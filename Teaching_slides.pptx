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6" r:id="rId7"/>
    <p:sldId id="261" r:id="rId8"/>
    <p:sldId id="265" r:id="rId9"/>
    <p:sldId id="267" r:id="rId10"/>
    <p:sldId id="26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49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ltGray"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60C67-4888-D377-BFED-745A21508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475CA-70D9-6F82-CA1C-A0F2FB0E90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C0596-07BE-D1A8-2B91-5DC3913B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ABB4-5DF4-4DEF-B925-CB750ADFBB93}" type="datetimeFigureOut">
              <a:rPr lang="zh-CN" altLang="en-US" smtClean="0"/>
              <a:t>2023/5/9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A027E-D34B-B9C0-26FE-BCD5F558D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49A44-C76F-C8FD-857B-BEBB1A7FC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5929-2228-46C0-9DEE-B9A46F518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298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13BA2-23F8-81B2-E87E-4C6B4A52B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7CB9C-E155-9D79-13AA-DCABFE4BC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92A39-6724-9610-3850-1327FCFBA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ABB4-5DF4-4DEF-B925-CB750ADFBB93}" type="datetimeFigureOut">
              <a:rPr lang="zh-CN" altLang="en-US" smtClean="0"/>
              <a:t>2023/5/9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AB836-96DF-2A80-D766-48CAF8C7B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77488-A84A-A6F9-C83F-365288EAB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5929-2228-46C0-9DEE-B9A46F518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0493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8DA76-DFB9-359D-F610-D8B3A5946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51630-6C4E-97F8-44CE-1D94F829A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2575E-0F6E-259A-C3FE-9B496975C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ABB4-5DF4-4DEF-B925-CB750ADFBB93}" type="datetimeFigureOut">
              <a:rPr lang="zh-CN" altLang="en-US" smtClean="0"/>
              <a:t>2023/5/9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CD9E7-9207-49AA-A4F4-C672F66DB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15F19-0F68-19C1-A9B5-02E3B71CA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5929-2228-46C0-9DEE-B9A46F518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518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B456E-6102-3C5D-06FF-830E56CC6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77955-65F9-BE15-3FF9-19D731C0F8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0ACD51-831D-482D-F261-1A882D372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894C-C680-F289-4047-7DFFD8656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ABB4-5DF4-4DEF-B925-CB750ADFBB93}" type="datetimeFigureOut">
              <a:rPr lang="zh-CN" altLang="en-US" smtClean="0"/>
              <a:t>2023/5/9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BDE0A-3610-3419-9C08-432C53A1C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C8FA5-2178-22B9-C5EA-D934DA939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5929-2228-46C0-9DEE-B9A46F518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975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22FFC-061A-F9FE-F76D-EAFC2144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8FA0A-9EA9-B471-98CD-C6FD3B72A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EFFE7B-3696-45CA-A2F4-D4DE5E365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0B3FAE-56C3-5041-25A6-C417B1E753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5ED2C-FBC4-6969-4A25-AE4ADF529A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C7274F-FB33-7231-71D5-E73BB741E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ABB4-5DF4-4DEF-B925-CB750ADFBB93}" type="datetimeFigureOut">
              <a:rPr lang="zh-CN" altLang="en-US" smtClean="0"/>
              <a:t>2023/5/9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2718E5-DA22-87DC-254D-F06F97630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CC5261-7E00-E3DC-B652-32F348382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5929-2228-46C0-9DEE-B9A46F518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38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F48D4-3BC1-4B47-3DE5-B6E4CF2F7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7B9B9B-B534-DC9D-CDA0-7F66350D4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ABB4-5DF4-4DEF-B925-CB750ADFBB93}" type="datetimeFigureOut">
              <a:rPr lang="zh-CN" altLang="en-US" smtClean="0"/>
              <a:t>2023/5/9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F41B30-6724-B2F9-5140-9ACFE8C24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D358BF-D487-483B-E28B-89B495BB6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5929-2228-46C0-9DEE-B9A46F518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329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5D911B-BA94-BB28-C7AE-32294676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ABB4-5DF4-4DEF-B925-CB750ADFBB93}" type="datetimeFigureOut">
              <a:rPr lang="zh-CN" altLang="en-US" smtClean="0"/>
              <a:t>2023/5/9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14F88F-F28D-FA1F-C774-71893E884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F4A00-969A-A935-DF15-414A0AA09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5929-2228-46C0-9DEE-B9A46F518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394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B5A1D-4E42-C898-48BB-23FD14B89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D51EB-BEC4-EC67-A00D-6A934C93D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5F09CB-04C7-2955-053B-E39B213E4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899E7-9BEB-7B5C-D646-E8A5C451E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ABB4-5DF4-4DEF-B925-CB750ADFBB93}" type="datetimeFigureOut">
              <a:rPr lang="zh-CN" altLang="en-US" smtClean="0"/>
              <a:t>2023/5/9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2B7FF-6081-0633-F845-6C752F0A5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F4AD5-9C60-1E5A-45DD-C390076B0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5929-2228-46C0-9DEE-B9A46F518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656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4F26-81A0-4C2F-BA5E-183D41C9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33E3FC-D8D1-D0AB-A226-FCE5F82B92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975ED-E6BF-1D5B-E524-B3DBE13FF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DCF3D-7149-C5C5-8AD4-EBD3C5E8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ABB4-5DF4-4DEF-B925-CB750ADFBB93}" type="datetimeFigureOut">
              <a:rPr lang="zh-CN" altLang="en-US" smtClean="0"/>
              <a:t>2023/5/9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290B4-6431-7B82-9779-B4CB99E00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B2908-080B-5021-4E1F-0556ACB23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5929-2228-46C0-9DEE-B9A46F518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67863-AB09-221A-4114-AFEB073AB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310F86-491B-D0AE-CA20-5DBD01FD8E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FAB6D-268C-1963-B09E-5DFC71221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ABB4-5DF4-4DEF-B925-CB750ADFBB93}" type="datetimeFigureOut">
              <a:rPr lang="zh-CN" altLang="en-US" smtClean="0"/>
              <a:t>2023/5/9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A5424-2BA9-7A86-FEA0-0D5363F70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12E83-9AD6-9612-5342-7445F0BF2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5929-2228-46C0-9DEE-B9A46F518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259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BF3DDC-4729-FCEF-D35B-132BF4DB44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755BD2-C2FF-BE61-9793-4BA667B54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C7E41-DC39-17F9-022A-DCE3717B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ABB4-5DF4-4DEF-B925-CB750ADFBB93}" type="datetimeFigureOut">
              <a:rPr lang="zh-CN" altLang="en-US" smtClean="0"/>
              <a:t>2023/5/9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A1ABC-8B5F-E6C3-8E13-E4A381021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FD521-AACE-CFCE-7A91-A65AB75BB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5929-2228-46C0-9DEE-B9A46F518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099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98F022-7E53-6B4C-4F95-485BB4D06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0C079-33C7-D8AE-63D0-52ECA48EF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CACC7-9833-6E09-48C1-60FD60291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2ABB4-5DF4-4DEF-B925-CB750ADFBB93}" type="datetimeFigureOut">
              <a:rPr lang="zh-CN" altLang="en-US" smtClean="0"/>
              <a:t>2023/5/9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3CD76-B779-D92B-EB9D-EFCBD1028A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0A523-084E-D08D-79EE-4C8B29CFF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A5929-2228-46C0-9DEE-B9A46F518D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923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5.jp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8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651197-0A62-7788-EF86-D847D324E8E9}"/>
              </a:ext>
            </a:extLst>
          </p:cNvPr>
          <p:cNvSpPr txBox="1"/>
          <p:nvPr/>
        </p:nvSpPr>
        <p:spPr>
          <a:xfrm>
            <a:off x="2077053" y="0"/>
            <a:ext cx="705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Band theory-</a:t>
            </a:r>
            <a:r>
              <a:rPr lang="en-US" altLang="zh-CN" sz="2800" b="1" u="sng" dirty="0"/>
              <a:t>Electron in a periodic potential </a:t>
            </a:r>
            <a:endParaRPr lang="zh-CN" altLang="en-US" sz="2800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10F6CF-B3E5-E5BC-602B-1386E115987E}"/>
              </a:ext>
            </a:extLst>
          </p:cNvPr>
          <p:cNvSpPr txBox="1"/>
          <p:nvPr/>
        </p:nvSpPr>
        <p:spPr>
          <a:xfrm>
            <a:off x="8163401" y="1213171"/>
            <a:ext cx="402859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+mj-lt"/>
              </a:rPr>
              <a:t>Referred books: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>
                <a:latin typeface="+mj-lt"/>
              </a:rPr>
              <a:t>Solid</a:t>
            </a:r>
            <a:r>
              <a:rPr lang="zh-CN" altLang="en-US" sz="1600" dirty="0">
                <a:latin typeface="+mj-lt"/>
              </a:rPr>
              <a:t> </a:t>
            </a:r>
            <a:r>
              <a:rPr lang="en-US" altLang="zh-CN" sz="1600" dirty="0">
                <a:latin typeface="+mj-lt"/>
              </a:rPr>
              <a:t>state physics (Ashcroft &amp; Mermin) Chapters 1-3, 8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>
                <a:latin typeface="+mj-lt"/>
              </a:rPr>
              <a:t>Introduction to solid state physics (Charles Kittel) Chapters 6 &amp; 7</a:t>
            </a:r>
          </a:p>
          <a:p>
            <a:pPr marL="342900" indent="-342900">
              <a:buFont typeface="+mj-lt"/>
              <a:buAutoNum type="arabicPeriod"/>
            </a:pPr>
            <a:endParaRPr lang="en-US" altLang="zh-CN" sz="1600" dirty="0">
              <a:latin typeface="+mj-lt"/>
            </a:endParaRPr>
          </a:p>
          <a:p>
            <a:r>
              <a:rPr lang="en-US" altLang="zh-CN" sz="1600" dirty="0">
                <a:latin typeface="+mj-lt"/>
              </a:rPr>
              <a:t>Additional reading: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>
                <a:latin typeface="+mj-lt"/>
              </a:rPr>
              <a:t>Group Theory – Application to the Physics of Condensed Matter (M.S. </a:t>
            </a:r>
            <a:r>
              <a:rPr lang="en-US" altLang="zh-CN" sz="1600" dirty="0" err="1">
                <a:latin typeface="+mj-lt"/>
              </a:rPr>
              <a:t>Dresselhaus</a:t>
            </a:r>
            <a:r>
              <a:rPr lang="en-US" altLang="zh-CN" sz="1600" dirty="0">
                <a:latin typeface="+mj-lt"/>
              </a:rPr>
              <a:t>, G. </a:t>
            </a:r>
            <a:r>
              <a:rPr lang="en-US" altLang="zh-CN" sz="1600" dirty="0" err="1">
                <a:latin typeface="+mj-lt"/>
              </a:rPr>
              <a:t>Dresselhaus</a:t>
            </a:r>
            <a:r>
              <a:rPr lang="en-US" altLang="zh-CN" sz="1600" dirty="0">
                <a:latin typeface="+mj-lt"/>
              </a:rPr>
              <a:t> and A. </a:t>
            </a:r>
            <a:r>
              <a:rPr lang="en-US" altLang="zh-CN" sz="1600" dirty="0" err="1">
                <a:latin typeface="+mj-lt"/>
              </a:rPr>
              <a:t>Jorio</a:t>
            </a:r>
            <a:r>
              <a:rPr lang="en-US" altLang="zh-CN" sz="1600" dirty="0">
                <a:latin typeface="+mj-lt"/>
              </a:rPr>
              <a:t>.) </a:t>
            </a:r>
          </a:p>
          <a:p>
            <a:r>
              <a:rPr lang="en-US" altLang="zh-CN" sz="1600" dirty="0">
                <a:latin typeface="+mj-lt"/>
              </a:rPr>
              <a:t>      Chapters 9, 10 and 13.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8FB603-2FBC-28E3-DB96-044FA90A7029}"/>
              </a:ext>
            </a:extLst>
          </p:cNvPr>
          <p:cNvSpPr txBox="1"/>
          <p:nvPr/>
        </p:nvSpPr>
        <p:spPr>
          <a:xfrm>
            <a:off x="1130243" y="1859502"/>
            <a:ext cx="6416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Why there are metal and insulators among solids?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D7636-4133-33CB-2F8E-974A5DE8E86B}"/>
              </a:ext>
            </a:extLst>
          </p:cNvPr>
          <p:cNvSpPr txBox="1"/>
          <p:nvPr/>
        </p:nvSpPr>
        <p:spPr>
          <a:xfrm>
            <a:off x="9801873" y="150911"/>
            <a:ext cx="2390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Course: Solid state physics</a:t>
            </a:r>
            <a:endParaRPr lang="zh-CN" alt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3AA6BB-D262-FE07-4F7F-C3112AB782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3" t="9178" r="6191"/>
          <a:stretch/>
        </p:blipFill>
        <p:spPr>
          <a:xfrm>
            <a:off x="3472100" y="2516217"/>
            <a:ext cx="1650196" cy="171134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EF060F-14C7-0770-E7DE-83262053A024}"/>
              </a:ext>
            </a:extLst>
          </p:cNvPr>
          <p:cNvCxnSpPr>
            <a:cxnSpLocks/>
          </p:cNvCxnSpPr>
          <p:nvPr/>
        </p:nvCxnSpPr>
        <p:spPr>
          <a:xfrm>
            <a:off x="8076510" y="947500"/>
            <a:ext cx="37239" cy="55815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9BF399D-535E-6C6A-9930-B3165B518864}"/>
              </a:ext>
            </a:extLst>
          </p:cNvPr>
          <p:cNvCxnSpPr>
            <a:cxnSpLocks/>
          </p:cNvCxnSpPr>
          <p:nvPr/>
        </p:nvCxnSpPr>
        <p:spPr>
          <a:xfrm>
            <a:off x="8109611" y="951638"/>
            <a:ext cx="45514" cy="5577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6119A89-295E-B35C-0465-D577C90834B6}"/>
              </a:ext>
            </a:extLst>
          </p:cNvPr>
          <p:cNvSpPr txBox="1"/>
          <p:nvPr/>
        </p:nvSpPr>
        <p:spPr>
          <a:xfrm>
            <a:off x="1224026" y="4998498"/>
            <a:ext cx="64166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Answer lies in the quantum mechanical behavior of electron </a:t>
            </a:r>
          </a:p>
          <a:p>
            <a:r>
              <a:rPr lang="en-US" altLang="zh-CN" sz="2000" dirty="0"/>
              <a:t>in a crystalline solid.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4503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651197-0A62-7788-EF86-D847D324E8E9}"/>
              </a:ext>
            </a:extLst>
          </p:cNvPr>
          <p:cNvSpPr txBox="1"/>
          <p:nvPr/>
        </p:nvSpPr>
        <p:spPr>
          <a:xfrm>
            <a:off x="3860339" y="0"/>
            <a:ext cx="3578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Electron in a periodic potential </a:t>
            </a:r>
            <a:endParaRPr lang="zh-CN" altLang="en-US" sz="2000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EF060F-14C7-0770-E7DE-83262053A024}"/>
              </a:ext>
            </a:extLst>
          </p:cNvPr>
          <p:cNvCxnSpPr>
            <a:cxnSpLocks/>
          </p:cNvCxnSpPr>
          <p:nvPr/>
        </p:nvCxnSpPr>
        <p:spPr>
          <a:xfrm>
            <a:off x="8076510" y="947500"/>
            <a:ext cx="37239" cy="55815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9BF399D-535E-6C6A-9930-B3165B518864}"/>
              </a:ext>
            </a:extLst>
          </p:cNvPr>
          <p:cNvCxnSpPr>
            <a:cxnSpLocks/>
          </p:cNvCxnSpPr>
          <p:nvPr/>
        </p:nvCxnSpPr>
        <p:spPr>
          <a:xfrm>
            <a:off x="8109611" y="951638"/>
            <a:ext cx="45514" cy="5577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08949B2-5BDB-C93C-6F65-91361195CD8B}"/>
              </a:ext>
            </a:extLst>
          </p:cNvPr>
          <p:cNvSpPr txBox="1"/>
          <p:nvPr/>
        </p:nvSpPr>
        <p:spPr>
          <a:xfrm>
            <a:off x="1206098" y="1107552"/>
            <a:ext cx="526843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 perfect crystal: regular periodic arrangement of ions</a:t>
            </a:r>
          </a:p>
          <a:p>
            <a:endParaRPr lang="en-US" altLang="zh-CN" dirty="0"/>
          </a:p>
          <a:p>
            <a:r>
              <a:rPr lang="en-US" altLang="zh-CN" sz="1400" dirty="0"/>
              <a:t>Examples: </a:t>
            </a:r>
            <a:endParaRPr lang="zh-CN" alt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0093B7-E238-CDCE-86D7-AC7E608ACA5A}"/>
              </a:ext>
            </a:extLst>
          </p:cNvPr>
          <p:cNvSpPr txBox="1"/>
          <p:nvPr/>
        </p:nvSpPr>
        <p:spPr>
          <a:xfrm>
            <a:off x="118611" y="5620225"/>
            <a:ext cx="7927558" cy="646331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Electron in a crystal        electron in a potential U(</a:t>
            </a:r>
            <a:r>
              <a:rPr lang="en-US" altLang="zh-CN" b="1" dirty="0"/>
              <a:t>r</a:t>
            </a:r>
            <a:r>
              <a:rPr lang="en-US" altLang="zh-CN" dirty="0"/>
              <a:t>) with periodicity of underlying  </a:t>
            </a:r>
          </a:p>
          <a:p>
            <a:r>
              <a:rPr lang="en-US" altLang="zh-CN" dirty="0"/>
              <a:t>                                        Bravais lattice i.e. U(</a:t>
            </a:r>
            <a:r>
              <a:rPr lang="en-US" altLang="zh-CN" b="1" dirty="0"/>
              <a:t>r </a:t>
            </a:r>
            <a:r>
              <a:rPr lang="en-US" altLang="zh-CN" dirty="0"/>
              <a:t>+</a:t>
            </a:r>
            <a:r>
              <a:rPr lang="en-US" altLang="zh-CN" b="1" dirty="0"/>
              <a:t> R</a:t>
            </a:r>
            <a:r>
              <a:rPr lang="en-US" altLang="zh-CN" dirty="0"/>
              <a:t>) = U(</a:t>
            </a:r>
            <a:r>
              <a:rPr lang="en-US" altLang="zh-CN" b="1" dirty="0"/>
              <a:t>r</a:t>
            </a:r>
            <a:r>
              <a:rPr lang="en-US" altLang="zh-CN" dirty="0"/>
              <a:t>) </a:t>
            </a:r>
            <a:endParaRPr lang="zh-CN" altLang="en-US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D6A99771-413E-7487-BB4A-56970CEDF7C8}"/>
              </a:ext>
            </a:extLst>
          </p:cNvPr>
          <p:cNvSpPr/>
          <p:nvPr/>
        </p:nvSpPr>
        <p:spPr>
          <a:xfrm>
            <a:off x="2143417" y="5720150"/>
            <a:ext cx="318592" cy="19655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D47435-82B5-82D5-77D4-76D047ED1381}"/>
              </a:ext>
            </a:extLst>
          </p:cNvPr>
          <p:cNvSpPr txBox="1"/>
          <p:nvPr/>
        </p:nvSpPr>
        <p:spPr>
          <a:xfrm>
            <a:off x="8097197" y="3057916"/>
            <a:ext cx="4094803" cy="198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Bravais lattice : </a:t>
            </a:r>
          </a:p>
          <a:p>
            <a:r>
              <a:rPr lang="en-US" altLang="zh-CN" sz="1600" dirty="0"/>
              <a:t>lattice with points represented by position </a:t>
            </a:r>
          </a:p>
          <a:p>
            <a:r>
              <a:rPr lang="en-US" altLang="zh-CN" sz="1600" dirty="0"/>
              <a:t>vectors </a:t>
            </a:r>
            <a:r>
              <a:rPr lang="en-US" altLang="zh-CN" sz="1600" b="1" dirty="0"/>
              <a:t>R </a:t>
            </a:r>
            <a:r>
              <a:rPr lang="en-US" altLang="zh-CN" sz="1600" dirty="0"/>
              <a:t>of the form,</a:t>
            </a:r>
          </a:p>
          <a:p>
            <a:endParaRPr lang="en-US" altLang="zh-CN" sz="1600" b="1" dirty="0"/>
          </a:p>
          <a:p>
            <a:r>
              <a:rPr lang="en-US" altLang="zh-CN" sz="1600" b="1" dirty="0"/>
              <a:t>R </a:t>
            </a:r>
            <a:r>
              <a:rPr lang="en-US" altLang="zh-CN" sz="1600" dirty="0"/>
              <a:t>= </a:t>
            </a:r>
            <a:r>
              <a:rPr lang="en-US" altLang="zh-CN" sz="1600" b="1" dirty="0"/>
              <a:t>  </a:t>
            </a:r>
            <a:r>
              <a:rPr lang="en-US" altLang="zh-CN" sz="1600" dirty="0"/>
              <a:t>n</a:t>
            </a:r>
            <a:r>
              <a:rPr lang="en-US" altLang="zh-CN" sz="1600" baseline="-25000" dirty="0"/>
              <a:t>1</a:t>
            </a:r>
            <a:r>
              <a:rPr lang="en-US" altLang="zh-CN" sz="1600" b="1" dirty="0"/>
              <a:t>a</a:t>
            </a:r>
            <a:r>
              <a:rPr lang="en-US" altLang="zh-CN" sz="1600" baseline="-25000" dirty="0"/>
              <a:t>1</a:t>
            </a:r>
            <a:r>
              <a:rPr lang="en-US" altLang="zh-CN" sz="1600" dirty="0"/>
              <a:t> + n</a:t>
            </a:r>
            <a:r>
              <a:rPr lang="en-US" altLang="zh-CN" sz="1600" baseline="-25000" dirty="0"/>
              <a:t>2</a:t>
            </a:r>
            <a:r>
              <a:rPr lang="en-US" altLang="zh-CN" sz="1600" b="1" dirty="0"/>
              <a:t>a</a:t>
            </a:r>
            <a:r>
              <a:rPr lang="en-US" altLang="zh-CN" sz="1600" baseline="-25000" dirty="0"/>
              <a:t>2</a:t>
            </a:r>
            <a:r>
              <a:rPr lang="en-US" altLang="zh-CN" sz="1600" dirty="0"/>
              <a:t> +n</a:t>
            </a:r>
            <a:r>
              <a:rPr lang="en-US" altLang="zh-CN" sz="1600" baseline="-25000" dirty="0"/>
              <a:t>3</a:t>
            </a:r>
            <a:r>
              <a:rPr lang="en-US" altLang="zh-CN" sz="1600" b="1" dirty="0"/>
              <a:t>a</a:t>
            </a:r>
            <a:r>
              <a:rPr lang="en-US" altLang="zh-CN" sz="1600" baseline="-25000" dirty="0"/>
              <a:t>3 </a:t>
            </a:r>
          </a:p>
          <a:p>
            <a:endParaRPr lang="en-US" altLang="zh-CN" sz="1600" b="1" baseline="-25000" dirty="0"/>
          </a:p>
          <a:p>
            <a:r>
              <a:rPr lang="en-US" altLang="zh-CN" sz="1600" dirty="0"/>
              <a:t>where</a:t>
            </a:r>
            <a:r>
              <a:rPr lang="en-US" altLang="zh-CN" sz="1600" b="1" dirty="0"/>
              <a:t> a</a:t>
            </a:r>
            <a:r>
              <a:rPr lang="en-US" altLang="zh-CN" sz="1600" b="1" baseline="-25000" dirty="0"/>
              <a:t>i</a:t>
            </a:r>
            <a:r>
              <a:rPr lang="en-US" altLang="zh-CN" sz="1600" b="1" dirty="0"/>
              <a:t> </a:t>
            </a:r>
            <a:r>
              <a:rPr lang="en-US" altLang="zh-CN" sz="1600" dirty="0"/>
              <a:t>are the primitive vectors which generate the lattice and </a:t>
            </a:r>
            <a:r>
              <a:rPr lang="en-US" altLang="zh-CN" sz="1600" dirty="0" err="1"/>
              <a:t>n</a:t>
            </a:r>
            <a:r>
              <a:rPr lang="en-US" altLang="zh-CN" sz="1600" baseline="-25000" dirty="0" err="1"/>
              <a:t>i</a:t>
            </a:r>
            <a:r>
              <a:rPr lang="en-US" altLang="zh-CN" sz="1600" baseline="-25000" dirty="0"/>
              <a:t> </a:t>
            </a:r>
            <a:r>
              <a:rPr lang="en-US" altLang="zh-CN" sz="1600" dirty="0"/>
              <a:t>are all integer values.</a:t>
            </a:r>
            <a:r>
              <a:rPr lang="en-US" altLang="zh-CN" sz="1600" b="1" dirty="0"/>
              <a:t> </a:t>
            </a:r>
            <a:endParaRPr lang="zh-CN" altLang="en-US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83417D-C54E-CBC7-ED04-C73CD28EC2EE}"/>
              </a:ext>
            </a:extLst>
          </p:cNvPr>
          <p:cNvSpPr txBox="1"/>
          <p:nvPr/>
        </p:nvSpPr>
        <p:spPr>
          <a:xfrm>
            <a:off x="8068233" y="2560693"/>
            <a:ext cx="798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u="sng" dirty="0"/>
              <a:t>Recap:</a:t>
            </a:r>
            <a:endParaRPr lang="zh-CN" altLang="en-US" sz="1600" u="sng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81985B8-71A5-B47E-61D1-0BBD26067E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90" t="32543" r="18645" b="43976"/>
          <a:stretch/>
        </p:blipFill>
        <p:spPr>
          <a:xfrm>
            <a:off x="307032" y="3210461"/>
            <a:ext cx="1995681" cy="18440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17C577D-D84D-EA83-2D67-044F864621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5" t="2950" r="57172" b="7783"/>
          <a:stretch/>
        </p:blipFill>
        <p:spPr>
          <a:xfrm>
            <a:off x="2791562" y="2479140"/>
            <a:ext cx="1911819" cy="189972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D6506E1-CEC6-9501-758B-825C928128C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07" t="13816" r="4244" b="10347"/>
          <a:stretch/>
        </p:blipFill>
        <p:spPr>
          <a:xfrm>
            <a:off x="5324143" y="2450175"/>
            <a:ext cx="1999332" cy="19649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E20CEF-EAE8-9B80-997B-E91A292AEB14}"/>
              </a:ext>
            </a:extLst>
          </p:cNvPr>
          <p:cNvSpPr txBox="1"/>
          <p:nvPr/>
        </p:nvSpPr>
        <p:spPr>
          <a:xfrm>
            <a:off x="554433" y="3703113"/>
            <a:ext cx="1303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1D chain</a:t>
            </a:r>
            <a:endParaRPr lang="zh-CN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84BE2-C56F-528D-BF8A-8AC84EA40CA6}"/>
              </a:ext>
            </a:extLst>
          </p:cNvPr>
          <p:cNvSpPr txBox="1"/>
          <p:nvPr/>
        </p:nvSpPr>
        <p:spPr>
          <a:xfrm>
            <a:off x="3292686" y="4500173"/>
            <a:ext cx="984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2D square</a:t>
            </a:r>
            <a:endParaRPr lang="zh-CN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00E085-7C2F-0966-EAB4-05E195064386}"/>
              </a:ext>
            </a:extLst>
          </p:cNvPr>
          <p:cNvSpPr txBox="1"/>
          <p:nvPr/>
        </p:nvSpPr>
        <p:spPr>
          <a:xfrm>
            <a:off x="5727732" y="4500173"/>
            <a:ext cx="984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3D cubic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53125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FD2F12A-0487-EE43-09B5-77B2B1F66B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0" t="38370" r="41146" b="35747"/>
          <a:stretch/>
        </p:blipFill>
        <p:spPr>
          <a:xfrm>
            <a:off x="2078086" y="1408772"/>
            <a:ext cx="4394085" cy="17750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E50DD0-FCFE-6466-C3D4-29F49AEA0A30}"/>
              </a:ext>
            </a:extLst>
          </p:cNvPr>
          <p:cNvSpPr txBox="1"/>
          <p:nvPr/>
        </p:nvSpPr>
        <p:spPr>
          <a:xfrm>
            <a:off x="475471" y="451675"/>
            <a:ext cx="2596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Example of 1D chain:</a:t>
            </a:r>
            <a:endParaRPr lang="zh-CN" alt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207D12-8DCD-379F-A87B-45BE4536DABB}"/>
              </a:ext>
            </a:extLst>
          </p:cNvPr>
          <p:cNvSpPr txBox="1"/>
          <p:nvPr/>
        </p:nvSpPr>
        <p:spPr>
          <a:xfrm>
            <a:off x="4376500" y="0"/>
            <a:ext cx="3672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Electron in a periodic potential </a:t>
            </a:r>
            <a:endParaRPr lang="zh-CN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492F82-7C66-7FCA-755E-A2C0212C13D8}"/>
              </a:ext>
            </a:extLst>
          </p:cNvPr>
          <p:cNvSpPr txBox="1"/>
          <p:nvPr/>
        </p:nvSpPr>
        <p:spPr>
          <a:xfrm>
            <a:off x="2113946" y="1379265"/>
            <a:ext cx="761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U(</a:t>
            </a:r>
            <a:r>
              <a:rPr lang="en-US" altLang="zh-CN" b="1" dirty="0">
                <a:solidFill>
                  <a:schemeClr val="bg1"/>
                </a:solidFill>
              </a:rPr>
              <a:t>r</a:t>
            </a:r>
            <a:r>
              <a:rPr lang="en-US" altLang="zh-CN" dirty="0">
                <a:solidFill>
                  <a:schemeClr val="bg1"/>
                </a:solidFill>
              </a:rPr>
              <a:t>)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CAF3AE-9788-93B3-FE35-7E78FCCF7A45}"/>
              </a:ext>
            </a:extLst>
          </p:cNvPr>
          <p:cNvSpPr txBox="1"/>
          <p:nvPr/>
        </p:nvSpPr>
        <p:spPr>
          <a:xfrm>
            <a:off x="6200817" y="1976597"/>
            <a:ext cx="344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r</a:t>
            </a:r>
            <a:endParaRPr lang="zh-CN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0FA23F-0230-8380-78D5-2B088CA718F1}"/>
              </a:ext>
            </a:extLst>
          </p:cNvPr>
          <p:cNvSpPr txBox="1"/>
          <p:nvPr/>
        </p:nvSpPr>
        <p:spPr>
          <a:xfrm>
            <a:off x="3863786" y="1770586"/>
            <a:ext cx="577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</a:rPr>
              <a:t>Ions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E2B93EC-63C6-7C7F-4BDB-695853DD7134}"/>
              </a:ext>
            </a:extLst>
          </p:cNvPr>
          <p:cNvCxnSpPr>
            <a:cxnSpLocks/>
          </p:cNvCxnSpPr>
          <p:nvPr/>
        </p:nvCxnSpPr>
        <p:spPr>
          <a:xfrm flipH="1">
            <a:off x="3473135" y="2080359"/>
            <a:ext cx="513057" cy="521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BDEC01-01A5-9D39-FDCC-E6DE15B7902A}"/>
              </a:ext>
            </a:extLst>
          </p:cNvPr>
          <p:cNvCxnSpPr>
            <a:cxnSpLocks/>
          </p:cNvCxnSpPr>
          <p:nvPr/>
        </p:nvCxnSpPr>
        <p:spPr>
          <a:xfrm>
            <a:off x="4108939" y="2088634"/>
            <a:ext cx="0" cy="521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6BFD9E0-08EF-7FE0-07E1-3540A3FB9BF8}"/>
              </a:ext>
            </a:extLst>
          </p:cNvPr>
          <p:cNvCxnSpPr>
            <a:cxnSpLocks/>
          </p:cNvCxnSpPr>
          <p:nvPr/>
        </p:nvCxnSpPr>
        <p:spPr>
          <a:xfrm>
            <a:off x="4275129" y="2077745"/>
            <a:ext cx="526162" cy="486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EDAAF0D-E443-15BF-7069-45E4D8924E99}"/>
              </a:ext>
            </a:extLst>
          </p:cNvPr>
          <p:cNvSpPr txBox="1"/>
          <p:nvPr/>
        </p:nvSpPr>
        <p:spPr>
          <a:xfrm>
            <a:off x="2228128" y="941645"/>
            <a:ext cx="4311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A typical crystalline periodic potential:</a:t>
            </a:r>
            <a:endParaRPr lang="zh-CN" altLang="en-US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719BA9-A40A-19BD-FDFB-DEF5B2E49902}"/>
              </a:ext>
            </a:extLst>
          </p:cNvPr>
          <p:cNvSpPr txBox="1"/>
          <p:nvPr/>
        </p:nvSpPr>
        <p:spPr>
          <a:xfrm>
            <a:off x="278770" y="4429058"/>
            <a:ext cx="75937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We need to examine electronic motion in this </a:t>
            </a:r>
            <a:r>
              <a:rPr lang="en-US" altLang="zh-CN" sz="2000" i="1" dirty="0"/>
              <a:t>perfectly</a:t>
            </a:r>
            <a:r>
              <a:rPr lang="en-US" altLang="zh-CN" sz="2000" dirty="0"/>
              <a:t> periodic potential within </a:t>
            </a:r>
            <a:r>
              <a:rPr lang="en-US" altLang="zh-CN" sz="2000" i="1" dirty="0"/>
              <a:t>quantum mechanical framework</a:t>
            </a:r>
            <a:r>
              <a:rPr lang="en-US" altLang="zh-CN" sz="2000" dirty="0"/>
              <a:t>.</a:t>
            </a:r>
            <a:endParaRPr lang="zh-CN" altLang="en-US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216581-461D-C280-282B-2536DE66EF89}"/>
              </a:ext>
            </a:extLst>
          </p:cNvPr>
          <p:cNvSpPr txBox="1"/>
          <p:nvPr/>
        </p:nvSpPr>
        <p:spPr>
          <a:xfrm>
            <a:off x="341908" y="5479679"/>
            <a:ext cx="58527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Why quantum mechanics needed for this problem?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5D516D0-EA55-03FE-C1F6-FD54C2DDE797}"/>
                  </a:ext>
                </a:extLst>
              </p:cNvPr>
              <p:cNvSpPr txBox="1"/>
              <p:nvPr/>
            </p:nvSpPr>
            <p:spPr>
              <a:xfrm>
                <a:off x="341908" y="5923836"/>
                <a:ext cx="756392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Because scale of periodicity of U (~ Å) is size of a typical de Broglie wavelength.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000" b="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5D516D0-EA55-03FE-C1F6-FD54C2DDE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08" y="5923836"/>
                <a:ext cx="7563928" cy="707886"/>
              </a:xfrm>
              <a:prstGeom prst="rect">
                <a:avLst/>
              </a:prstGeom>
              <a:blipFill>
                <a:blip r:embed="rId3"/>
                <a:stretch>
                  <a:fillRect l="-670" t="-5263" b="-1403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2951375-A4E7-5F08-1361-0186126D5AEC}"/>
              </a:ext>
            </a:extLst>
          </p:cNvPr>
          <p:cNvCxnSpPr>
            <a:cxnSpLocks/>
          </p:cNvCxnSpPr>
          <p:nvPr/>
        </p:nvCxnSpPr>
        <p:spPr>
          <a:xfrm>
            <a:off x="8076510" y="947500"/>
            <a:ext cx="37239" cy="55815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B27210-0292-1704-9BB7-CDAE15A50905}"/>
              </a:ext>
            </a:extLst>
          </p:cNvPr>
          <p:cNvCxnSpPr>
            <a:cxnSpLocks/>
          </p:cNvCxnSpPr>
          <p:nvPr/>
        </p:nvCxnSpPr>
        <p:spPr>
          <a:xfrm>
            <a:off x="8109611" y="951638"/>
            <a:ext cx="45514" cy="5577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E5C31DE-7D9A-033D-6D6A-9EE84432D73E}"/>
              </a:ext>
            </a:extLst>
          </p:cNvPr>
          <p:cNvSpPr txBox="1"/>
          <p:nvPr/>
        </p:nvSpPr>
        <p:spPr>
          <a:xfrm>
            <a:off x="8264941" y="2187136"/>
            <a:ext cx="800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u="sng" dirty="0"/>
              <a:t>Recap:</a:t>
            </a:r>
            <a:endParaRPr lang="zh-CN" altLang="en-US" sz="1600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0DACA5B-5A6E-A40C-B724-2E167D817521}"/>
                  </a:ext>
                </a:extLst>
              </p:cNvPr>
              <p:cNvSpPr txBox="1"/>
              <p:nvPr/>
            </p:nvSpPr>
            <p:spPr>
              <a:xfrm>
                <a:off x="8106509" y="3272869"/>
                <a:ext cx="4079457" cy="2904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/>
                  <a:t>de Broglie wavelength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altLang="zh-CN" sz="1600" dirty="0"/>
                  <a:t>  appears in the Sommerfeld free electron model. </a:t>
                </a:r>
              </a:p>
              <a:p>
                <a:endParaRPr lang="en-US" altLang="zh-CN" sz="1600" dirty="0"/>
              </a:p>
              <a:p>
                <a:r>
                  <a:rPr lang="en-US" altLang="zh-CN" sz="1600" dirty="0"/>
                  <a:t>Sommerfeld model: quantum mechanical extension of </a:t>
                </a:r>
                <a:r>
                  <a:rPr lang="en-US" altLang="zh-CN" sz="1600" dirty="0" err="1"/>
                  <a:t>Drude’s</a:t>
                </a:r>
                <a:r>
                  <a:rPr lang="en-US" altLang="zh-CN" sz="1600" dirty="0"/>
                  <a:t> classical electron gas model</a:t>
                </a:r>
              </a:p>
              <a:p>
                <a:endParaRPr lang="en-US" altLang="zh-CN" sz="1600" dirty="0"/>
              </a:p>
              <a:p>
                <a:r>
                  <a:rPr lang="en-US" altLang="zh-CN" sz="1600" dirty="0"/>
                  <a:t>Quantum Fermi-Dirac distribution of electronic velocity distribution rather than classical Maxwell-Boltzmann distribution of </a:t>
                </a:r>
                <a:r>
                  <a:rPr lang="en-US" altLang="zh-CN" sz="1600" dirty="0" err="1"/>
                  <a:t>Drude</a:t>
                </a:r>
                <a:r>
                  <a:rPr lang="en-US" altLang="zh-CN" sz="1600" dirty="0"/>
                  <a:t> Model.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0DACA5B-5A6E-A40C-B724-2E167D817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509" y="3272869"/>
                <a:ext cx="4079457" cy="2904000"/>
              </a:xfrm>
              <a:prstGeom prst="rect">
                <a:avLst/>
              </a:prstGeom>
              <a:blipFill>
                <a:blip r:embed="rId4"/>
                <a:stretch>
                  <a:fillRect l="-897" r="-1794" b="-18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19811E7-1D1F-E809-77D5-2BCD1ED3F58F}"/>
              </a:ext>
            </a:extLst>
          </p:cNvPr>
          <p:cNvSpPr txBox="1"/>
          <p:nvPr/>
        </p:nvSpPr>
        <p:spPr>
          <a:xfrm>
            <a:off x="216707" y="3439965"/>
            <a:ext cx="7784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U(</a:t>
            </a:r>
            <a:r>
              <a:rPr lang="en-US" altLang="zh-CN" b="1" dirty="0"/>
              <a:t>r</a:t>
            </a:r>
            <a:r>
              <a:rPr lang="en-US" altLang="zh-CN" dirty="0"/>
              <a:t>) must satisfy U(</a:t>
            </a:r>
            <a:r>
              <a:rPr lang="en-US" altLang="zh-CN" b="1" dirty="0"/>
              <a:t>r</a:t>
            </a:r>
            <a:r>
              <a:rPr lang="en-US" altLang="zh-CN" dirty="0"/>
              <a:t>) = U(</a:t>
            </a:r>
            <a:r>
              <a:rPr lang="en-US" altLang="zh-CN" b="1" dirty="0"/>
              <a:t>r </a:t>
            </a:r>
            <a:r>
              <a:rPr lang="en-US" altLang="zh-CN" dirty="0"/>
              <a:t>+</a:t>
            </a:r>
            <a:r>
              <a:rPr lang="en-US" altLang="zh-CN" b="1" dirty="0"/>
              <a:t> R</a:t>
            </a:r>
            <a:r>
              <a:rPr lang="en-US" altLang="zh-CN" dirty="0"/>
              <a:t>) if the crystal is perfectly periodic, independent of its detailed form.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9012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7207D12-8DCD-379F-A87B-45BE4536DABB}"/>
              </a:ext>
            </a:extLst>
          </p:cNvPr>
          <p:cNvSpPr txBox="1"/>
          <p:nvPr/>
        </p:nvSpPr>
        <p:spPr>
          <a:xfrm>
            <a:off x="4376500" y="0"/>
            <a:ext cx="3672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Electron in a periodic potential </a:t>
            </a:r>
            <a:endParaRPr lang="zh-CN" altLang="en-US" sz="2000" b="1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2951375-A4E7-5F08-1361-0186126D5AEC}"/>
              </a:ext>
            </a:extLst>
          </p:cNvPr>
          <p:cNvCxnSpPr>
            <a:cxnSpLocks/>
          </p:cNvCxnSpPr>
          <p:nvPr/>
        </p:nvCxnSpPr>
        <p:spPr>
          <a:xfrm>
            <a:off x="8076510" y="947500"/>
            <a:ext cx="37239" cy="55815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B27210-0292-1704-9BB7-CDAE15A50905}"/>
              </a:ext>
            </a:extLst>
          </p:cNvPr>
          <p:cNvCxnSpPr>
            <a:cxnSpLocks/>
          </p:cNvCxnSpPr>
          <p:nvPr/>
        </p:nvCxnSpPr>
        <p:spPr>
          <a:xfrm>
            <a:off x="8109611" y="951638"/>
            <a:ext cx="45514" cy="5577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E5C31DE-7D9A-033D-6D6A-9EE84432D73E}"/>
              </a:ext>
            </a:extLst>
          </p:cNvPr>
          <p:cNvSpPr txBox="1"/>
          <p:nvPr/>
        </p:nvSpPr>
        <p:spPr>
          <a:xfrm>
            <a:off x="8109611" y="1963246"/>
            <a:ext cx="852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u="sng" dirty="0"/>
              <a:t>Recap:</a:t>
            </a:r>
            <a:endParaRPr lang="zh-CN" altLang="en-US" sz="16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76D880-C898-27A1-645B-7B953E2354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0" t="38370" r="41146" b="35747"/>
          <a:stretch/>
        </p:blipFill>
        <p:spPr>
          <a:xfrm>
            <a:off x="2080157" y="1210755"/>
            <a:ext cx="4394085" cy="17750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6BF7BF-65B2-5232-2C77-56D034941CC0}"/>
              </a:ext>
            </a:extLst>
          </p:cNvPr>
          <p:cNvSpPr txBox="1"/>
          <p:nvPr/>
        </p:nvSpPr>
        <p:spPr>
          <a:xfrm>
            <a:off x="2116017" y="1181248"/>
            <a:ext cx="761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U(</a:t>
            </a:r>
            <a:r>
              <a:rPr lang="en-US" altLang="zh-CN" b="1" dirty="0">
                <a:solidFill>
                  <a:schemeClr val="bg1"/>
                </a:solidFill>
              </a:rPr>
              <a:t>r</a:t>
            </a:r>
            <a:r>
              <a:rPr lang="en-US" altLang="zh-CN" dirty="0">
                <a:solidFill>
                  <a:schemeClr val="bg1"/>
                </a:solidFill>
              </a:rPr>
              <a:t>)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7C1C4D-8F58-AFFB-DFDC-5FB0684DB153}"/>
              </a:ext>
            </a:extLst>
          </p:cNvPr>
          <p:cNvSpPr txBox="1"/>
          <p:nvPr/>
        </p:nvSpPr>
        <p:spPr>
          <a:xfrm>
            <a:off x="6202888" y="1778580"/>
            <a:ext cx="344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r</a:t>
            </a:r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8F917E-1CF4-76C2-FEAD-8699E6D730BB}"/>
              </a:ext>
            </a:extLst>
          </p:cNvPr>
          <p:cNvSpPr txBox="1"/>
          <p:nvPr/>
        </p:nvSpPr>
        <p:spPr>
          <a:xfrm>
            <a:off x="3872061" y="1210755"/>
            <a:ext cx="577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</a:rPr>
              <a:t>Ions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EA5683B-28CD-FF32-8FBC-4A6E7FAC5052}"/>
              </a:ext>
            </a:extLst>
          </p:cNvPr>
          <p:cNvCxnSpPr>
            <a:cxnSpLocks/>
          </p:cNvCxnSpPr>
          <p:nvPr/>
        </p:nvCxnSpPr>
        <p:spPr>
          <a:xfrm flipH="1">
            <a:off x="3481410" y="1520528"/>
            <a:ext cx="513057" cy="521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14B618-9B86-70D6-0BCD-40E8F8B6A9F9}"/>
              </a:ext>
            </a:extLst>
          </p:cNvPr>
          <p:cNvCxnSpPr>
            <a:cxnSpLocks/>
          </p:cNvCxnSpPr>
          <p:nvPr/>
        </p:nvCxnSpPr>
        <p:spPr>
          <a:xfrm>
            <a:off x="4117214" y="1528803"/>
            <a:ext cx="0" cy="521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852CB13-4AE2-4017-A8DC-1939B8A71431}"/>
              </a:ext>
            </a:extLst>
          </p:cNvPr>
          <p:cNvCxnSpPr>
            <a:cxnSpLocks/>
          </p:cNvCxnSpPr>
          <p:nvPr/>
        </p:nvCxnSpPr>
        <p:spPr>
          <a:xfrm>
            <a:off x="4283404" y="1517914"/>
            <a:ext cx="526162" cy="486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7F1E19C-400B-ABC5-86F3-50B25250EBA9}"/>
              </a:ext>
            </a:extLst>
          </p:cNvPr>
          <p:cNvSpPr txBox="1"/>
          <p:nvPr/>
        </p:nvSpPr>
        <p:spPr>
          <a:xfrm>
            <a:off x="1757429" y="734290"/>
            <a:ext cx="3786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 typical crystalline periodic potential: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3D8DAD-2A39-AF50-5A3E-CFBFB2D9B52C}"/>
                  </a:ext>
                </a:extLst>
              </p:cNvPr>
              <p:cNvSpPr txBox="1"/>
              <p:nvPr/>
            </p:nvSpPr>
            <p:spPr>
              <a:xfrm>
                <a:off x="268941" y="3343146"/>
                <a:ext cx="54574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Full Hamiltonian of a periodic system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endParaRPr lang="zh-CN" altLang="en-US" baseline="30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3D8DAD-2A39-AF50-5A3E-CFBFB2D9B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1" y="3343146"/>
                <a:ext cx="5457438" cy="369332"/>
              </a:xfrm>
              <a:prstGeom prst="rect">
                <a:avLst/>
              </a:prstGeom>
              <a:blipFill>
                <a:blip r:embed="rId4"/>
                <a:stretch>
                  <a:fillRect l="-894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E4C7AE5-455E-0861-1FA6-340EDBF65C10}"/>
              </a:ext>
            </a:extLst>
          </p:cNvPr>
          <p:cNvCxnSpPr/>
          <p:nvPr/>
        </p:nvCxnSpPr>
        <p:spPr>
          <a:xfrm>
            <a:off x="4204448" y="3712478"/>
            <a:ext cx="0" cy="4788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9211091-D05F-3365-794A-A0ADBA261AB1}"/>
              </a:ext>
            </a:extLst>
          </p:cNvPr>
          <p:cNvCxnSpPr/>
          <p:nvPr/>
        </p:nvCxnSpPr>
        <p:spPr>
          <a:xfrm>
            <a:off x="5134019" y="3708138"/>
            <a:ext cx="0" cy="4788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F403C29-DCEF-0C62-265B-5276BC43E272}"/>
              </a:ext>
            </a:extLst>
          </p:cNvPr>
          <p:cNvSpPr txBox="1"/>
          <p:nvPr/>
        </p:nvSpPr>
        <p:spPr>
          <a:xfrm>
            <a:off x="3407626" y="4108118"/>
            <a:ext cx="12702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One-electron</a:t>
            </a:r>
            <a:endParaRPr lang="zh-CN" alt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FB7CDB-0A69-B4BE-0579-FA4EFABA5691}"/>
              </a:ext>
            </a:extLst>
          </p:cNvPr>
          <p:cNvSpPr txBox="1"/>
          <p:nvPr/>
        </p:nvSpPr>
        <p:spPr>
          <a:xfrm>
            <a:off x="4747159" y="4108118"/>
            <a:ext cx="18663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Many-electron term</a:t>
            </a:r>
            <a:endParaRPr lang="zh-CN" altLang="en-US" sz="1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5F9E34-3735-D216-14E1-BC09762FC07F}"/>
              </a:ext>
            </a:extLst>
          </p:cNvPr>
          <p:cNvSpPr txBox="1"/>
          <p:nvPr/>
        </p:nvSpPr>
        <p:spPr>
          <a:xfrm>
            <a:off x="242738" y="4886856"/>
            <a:ext cx="7745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Treating electrons independently, above terms can be replaced by an effective one-electron potential U(</a:t>
            </a:r>
            <a:r>
              <a:rPr lang="en-US" altLang="zh-CN" b="1" dirty="0"/>
              <a:t>r</a:t>
            </a:r>
            <a:r>
              <a:rPr lang="en-US" altLang="zh-CN" dirty="0"/>
              <a:t>).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2198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7207D12-8DCD-379F-A87B-45BE4536DABB}"/>
              </a:ext>
            </a:extLst>
          </p:cNvPr>
          <p:cNvSpPr txBox="1"/>
          <p:nvPr/>
        </p:nvSpPr>
        <p:spPr>
          <a:xfrm>
            <a:off x="4376500" y="0"/>
            <a:ext cx="3672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Electron in a periodic potential </a:t>
            </a:r>
            <a:endParaRPr lang="zh-CN" altLang="en-US" sz="2000" b="1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2951375-A4E7-5F08-1361-0186126D5AEC}"/>
              </a:ext>
            </a:extLst>
          </p:cNvPr>
          <p:cNvCxnSpPr>
            <a:cxnSpLocks/>
          </p:cNvCxnSpPr>
          <p:nvPr/>
        </p:nvCxnSpPr>
        <p:spPr>
          <a:xfrm>
            <a:off x="8076510" y="947500"/>
            <a:ext cx="37239" cy="55815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B27210-0292-1704-9BB7-CDAE15A50905}"/>
              </a:ext>
            </a:extLst>
          </p:cNvPr>
          <p:cNvCxnSpPr>
            <a:cxnSpLocks/>
          </p:cNvCxnSpPr>
          <p:nvPr/>
        </p:nvCxnSpPr>
        <p:spPr>
          <a:xfrm>
            <a:off x="8109611" y="951638"/>
            <a:ext cx="45514" cy="5577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E5C31DE-7D9A-033D-6D6A-9EE84432D73E}"/>
              </a:ext>
            </a:extLst>
          </p:cNvPr>
          <p:cNvSpPr txBox="1"/>
          <p:nvPr/>
        </p:nvSpPr>
        <p:spPr>
          <a:xfrm>
            <a:off x="8076510" y="2642665"/>
            <a:ext cx="8585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u="sng" dirty="0"/>
              <a:t>Recap:</a:t>
            </a:r>
            <a:endParaRPr lang="zh-CN" altLang="en-US" sz="1600" u="sng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DACA5B-5A6E-A40C-B724-2E167D817521}"/>
              </a:ext>
            </a:extLst>
          </p:cNvPr>
          <p:cNvSpPr txBox="1"/>
          <p:nvPr/>
        </p:nvSpPr>
        <p:spPr>
          <a:xfrm>
            <a:off x="8095129" y="1280445"/>
            <a:ext cx="40968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U(</a:t>
            </a:r>
            <a:r>
              <a:rPr lang="en-US" altLang="zh-CN" sz="1600" b="1" dirty="0"/>
              <a:t>r</a:t>
            </a:r>
            <a:r>
              <a:rPr lang="en-US" altLang="zh-CN" sz="1600" dirty="0"/>
              <a:t>) = 0 in this equation will lead to Schrodinger eq. for free electrons which is the Sommerfeld model.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7D961-E6A6-21C6-770E-502EAEBDC299}"/>
              </a:ext>
            </a:extLst>
          </p:cNvPr>
          <p:cNvSpPr txBox="1"/>
          <p:nvPr/>
        </p:nvSpPr>
        <p:spPr>
          <a:xfrm>
            <a:off x="142918" y="803390"/>
            <a:ext cx="7776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We need to solve Schrodinger equation for a single electron with </a:t>
            </a:r>
          </a:p>
          <a:p>
            <a:r>
              <a:rPr lang="en-US" altLang="zh-CN" sz="2000" dirty="0"/>
              <a:t>U(</a:t>
            </a:r>
            <a:r>
              <a:rPr lang="en-US" altLang="zh-CN" sz="2000" b="1" dirty="0"/>
              <a:t>r</a:t>
            </a:r>
            <a:r>
              <a:rPr lang="en-US" altLang="zh-CN" sz="2000" dirty="0"/>
              <a:t>) = U(</a:t>
            </a:r>
            <a:r>
              <a:rPr lang="en-US" altLang="zh-CN" sz="2000" b="1" dirty="0"/>
              <a:t>r </a:t>
            </a:r>
            <a:r>
              <a:rPr lang="en-US" altLang="zh-CN" sz="2000" dirty="0"/>
              <a:t>+</a:t>
            </a:r>
            <a:r>
              <a:rPr lang="en-US" altLang="zh-CN" sz="2000" b="1" dirty="0"/>
              <a:t> R</a:t>
            </a:r>
            <a:r>
              <a:rPr lang="en-US" altLang="zh-CN" sz="2000" dirty="0"/>
              <a:t>),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67FA6D-64C0-9325-6B0E-A96E80D55374}"/>
                  </a:ext>
                </a:extLst>
              </p:cNvPr>
              <p:cNvSpPr txBox="1"/>
              <p:nvPr/>
            </p:nvSpPr>
            <p:spPr>
              <a:xfrm>
                <a:off x="2554425" y="1546079"/>
                <a:ext cx="3675184" cy="5507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ℏ</m:t>
                            </m:r>
                            <m:r>
                              <a:rPr lang="en-US" altLang="zh-CN" sz="2000" b="0" i="1" baseline="30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altLang="zh-CN" sz="20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altLang="zh-CN" sz="2000" dirty="0"/>
                  <a:t> 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67FA6D-64C0-9325-6B0E-A96E80D55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4425" y="1546079"/>
                <a:ext cx="3675184" cy="550728"/>
              </a:xfrm>
              <a:prstGeom prst="rect">
                <a:avLst/>
              </a:prstGeom>
              <a:blipFill>
                <a:blip r:embed="rId2"/>
                <a:stretch>
                  <a:fillRect l="-69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6C734CA-E027-E31E-F817-BA0BF77494BE}"/>
              </a:ext>
            </a:extLst>
          </p:cNvPr>
          <p:cNvSpPr txBox="1"/>
          <p:nvPr/>
        </p:nvSpPr>
        <p:spPr>
          <a:xfrm>
            <a:off x="8169606" y="972668"/>
            <a:ext cx="1055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u="sng" dirty="0"/>
              <a:t>Remark:</a:t>
            </a:r>
            <a:endParaRPr lang="zh-CN" altLang="en-US" sz="1600" u="sn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639FB1-A869-A7FD-F7B4-C68D0191DAEB}"/>
              </a:ext>
            </a:extLst>
          </p:cNvPr>
          <p:cNvSpPr txBox="1"/>
          <p:nvPr/>
        </p:nvSpPr>
        <p:spPr>
          <a:xfrm>
            <a:off x="99300" y="2424255"/>
            <a:ext cx="79689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The independent single electrons obeying above equation are called </a:t>
            </a:r>
            <a:r>
              <a:rPr lang="en-US" altLang="zh-CN" sz="2000" b="1" dirty="0"/>
              <a:t>Bloch</a:t>
            </a:r>
            <a:r>
              <a:rPr lang="en-US" altLang="zh-CN" sz="2000" dirty="0"/>
              <a:t> electrons. 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F6B17BB-40D0-CC17-EFE9-C4FA4263642E}"/>
                  </a:ext>
                </a:extLst>
              </p:cNvPr>
              <p:cNvSpPr txBox="1"/>
              <p:nvPr/>
            </p:nvSpPr>
            <p:spPr>
              <a:xfrm>
                <a:off x="62882" y="3091968"/>
                <a:ext cx="774619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As a direct consequence of periodic U, the eigenstates states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altLang="zh-CN" sz="2000" dirty="0"/>
                  <a:t> of above Hamiltonian can have the form,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F6B17BB-40D0-CC17-EFE9-C4FA42636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82" y="3091968"/>
                <a:ext cx="7746195" cy="707886"/>
              </a:xfrm>
              <a:prstGeom prst="rect">
                <a:avLst/>
              </a:prstGeom>
              <a:blipFill>
                <a:blip r:embed="rId3"/>
                <a:stretch>
                  <a:fillRect l="-655" t="-5263" b="-1403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9ECAB1-4933-4E1A-7875-2673340CFE93}"/>
                  </a:ext>
                </a:extLst>
              </p:cNvPr>
              <p:cNvSpPr txBox="1"/>
              <p:nvPr/>
            </p:nvSpPr>
            <p:spPr>
              <a:xfrm>
                <a:off x="2731718" y="4110702"/>
                <a:ext cx="2645596" cy="41177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</m:sSup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9ECAB1-4933-4E1A-7875-2673340CF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718" y="4110702"/>
                <a:ext cx="2645596" cy="411779"/>
              </a:xfrm>
              <a:prstGeom prst="rect">
                <a:avLst/>
              </a:prstGeom>
              <a:blipFill>
                <a:blip r:embed="rId4"/>
                <a:stretch>
                  <a:fillRect b="-1470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2D93778-C72A-719D-5900-6919C3D36934}"/>
              </a:ext>
            </a:extLst>
          </p:cNvPr>
          <p:cNvCxnSpPr>
            <a:cxnSpLocks/>
          </p:cNvCxnSpPr>
          <p:nvPr/>
        </p:nvCxnSpPr>
        <p:spPr>
          <a:xfrm>
            <a:off x="4067216" y="4452873"/>
            <a:ext cx="0" cy="5585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D0DAB2B-8FBF-BE0E-6287-FD5C3F6FF92E}"/>
              </a:ext>
            </a:extLst>
          </p:cNvPr>
          <p:cNvSpPr txBox="1"/>
          <p:nvPr/>
        </p:nvSpPr>
        <p:spPr>
          <a:xfrm>
            <a:off x="3105758" y="4957654"/>
            <a:ext cx="1490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Plane waves</a:t>
            </a:r>
            <a:endParaRPr lang="zh-CN" altLang="en-US" sz="2000" dirty="0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27D40F1B-E597-71B5-C169-7999329B7C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4671126" y="4473935"/>
            <a:ext cx="520957" cy="51267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F1EE32A-18CE-E07D-6FEC-624C2D79523E}"/>
                  </a:ext>
                </a:extLst>
              </p:cNvPr>
              <p:cNvSpPr txBox="1"/>
              <p:nvPr/>
            </p:nvSpPr>
            <p:spPr>
              <a:xfrm>
                <a:off x="4492906" y="4957654"/>
                <a:ext cx="269065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zh-CN" sz="2000" b="1" dirty="0" smtClean="0"/>
                            <m:t>R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F1EE32A-18CE-E07D-6FEC-624C2D795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906" y="4957654"/>
                <a:ext cx="2690651" cy="400110"/>
              </a:xfrm>
              <a:prstGeom prst="rect">
                <a:avLst/>
              </a:prstGeom>
              <a:blipFill>
                <a:blip r:embed="rId5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96733358-E5F6-25A1-95D4-56ACEBF4A5CD}"/>
              </a:ext>
            </a:extLst>
          </p:cNvPr>
          <p:cNvSpPr txBox="1"/>
          <p:nvPr/>
        </p:nvSpPr>
        <p:spPr>
          <a:xfrm>
            <a:off x="8095129" y="3117599"/>
            <a:ext cx="4159151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75000"/>
              <a:buFont typeface="Wingdings" panose="05000000000000000000" pitchFamily="2" charset="2"/>
              <a:buChar char="l"/>
            </a:pPr>
            <a:r>
              <a:rPr lang="en-US" altLang="zh-CN" sz="1600" dirty="0"/>
              <a:t>position vectors </a:t>
            </a:r>
            <a:r>
              <a:rPr lang="en-US" altLang="zh-CN" sz="1600" b="1" dirty="0"/>
              <a:t>R </a:t>
            </a:r>
            <a:r>
              <a:rPr lang="en-US" altLang="zh-CN" sz="1600" dirty="0"/>
              <a:t>are of lattice points in a Bravais lattice with,</a:t>
            </a:r>
          </a:p>
          <a:p>
            <a:endParaRPr lang="en-US" altLang="zh-CN" sz="1600" b="1" dirty="0"/>
          </a:p>
          <a:p>
            <a:r>
              <a:rPr lang="en-US" altLang="zh-CN" sz="1600" b="1" dirty="0"/>
              <a:t>R </a:t>
            </a:r>
            <a:r>
              <a:rPr lang="en-US" altLang="zh-CN" sz="1600" dirty="0"/>
              <a:t>= </a:t>
            </a:r>
            <a:r>
              <a:rPr lang="en-US" altLang="zh-CN" sz="1600" b="1" dirty="0"/>
              <a:t>  </a:t>
            </a:r>
            <a:r>
              <a:rPr lang="en-US" altLang="zh-CN" sz="1600" dirty="0"/>
              <a:t>n</a:t>
            </a:r>
            <a:r>
              <a:rPr lang="en-US" altLang="zh-CN" sz="1600" baseline="-25000" dirty="0"/>
              <a:t>1</a:t>
            </a:r>
            <a:r>
              <a:rPr lang="en-US" altLang="zh-CN" sz="1600" b="1" dirty="0"/>
              <a:t>a</a:t>
            </a:r>
            <a:r>
              <a:rPr lang="en-US" altLang="zh-CN" sz="1600" baseline="-25000" dirty="0"/>
              <a:t>1</a:t>
            </a:r>
            <a:r>
              <a:rPr lang="en-US" altLang="zh-CN" sz="1600" dirty="0"/>
              <a:t> + n</a:t>
            </a:r>
            <a:r>
              <a:rPr lang="en-US" altLang="zh-CN" sz="1600" baseline="-25000" dirty="0"/>
              <a:t>2</a:t>
            </a:r>
            <a:r>
              <a:rPr lang="en-US" altLang="zh-CN" sz="1600" b="1" dirty="0"/>
              <a:t>a</a:t>
            </a:r>
            <a:r>
              <a:rPr lang="en-US" altLang="zh-CN" sz="1600" baseline="-25000" dirty="0"/>
              <a:t>2</a:t>
            </a:r>
            <a:r>
              <a:rPr lang="en-US" altLang="zh-CN" sz="1600" dirty="0"/>
              <a:t> +n</a:t>
            </a:r>
            <a:r>
              <a:rPr lang="en-US" altLang="zh-CN" sz="1600" baseline="-25000" dirty="0"/>
              <a:t>3</a:t>
            </a:r>
            <a:r>
              <a:rPr lang="en-US" altLang="zh-CN" sz="1600" b="1" dirty="0"/>
              <a:t>a</a:t>
            </a:r>
            <a:r>
              <a:rPr lang="en-US" altLang="zh-CN" sz="1600" baseline="-25000" dirty="0"/>
              <a:t>3 </a:t>
            </a:r>
          </a:p>
          <a:p>
            <a:endParaRPr lang="en-US" altLang="zh-CN" sz="1600" baseline="-25000" dirty="0"/>
          </a:p>
          <a:p>
            <a:pPr marL="285750" indent="-285750">
              <a:buSzPct val="75000"/>
              <a:buFont typeface="Wingdings" panose="05000000000000000000" pitchFamily="2" charset="2"/>
              <a:buChar char="l"/>
            </a:pPr>
            <a:r>
              <a:rPr lang="en-US" altLang="zh-CN" sz="1600" b="1" i="1" dirty="0"/>
              <a:t>k </a:t>
            </a:r>
            <a:r>
              <a:rPr lang="en-US" altLang="zh-CN" sz="1600" dirty="0"/>
              <a:t>is wave vector similar to the one appeared in Sommerfeld’s free electron gas model.</a:t>
            </a:r>
            <a:endParaRPr lang="en-US" altLang="zh-CN" sz="1600" b="1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25C6F80-068B-16C8-D080-1F827B6D69E8}"/>
                  </a:ext>
                </a:extLst>
              </p:cNvPr>
              <p:cNvSpPr txBox="1"/>
              <p:nvPr/>
            </p:nvSpPr>
            <p:spPr>
              <a:xfrm>
                <a:off x="636360" y="5951672"/>
                <a:ext cx="3061791" cy="41177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25C6F80-068B-16C8-D080-1F827B6D6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360" y="5951672"/>
                <a:ext cx="3061791" cy="411779"/>
              </a:xfrm>
              <a:prstGeom prst="rect">
                <a:avLst/>
              </a:prstGeom>
              <a:blipFill>
                <a:blip r:embed="rId6"/>
                <a:stretch>
                  <a:fillRect b="-1470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650D9962-B8FB-9EB4-CB68-E9ABE56BB224}"/>
              </a:ext>
            </a:extLst>
          </p:cNvPr>
          <p:cNvSpPr txBox="1"/>
          <p:nvPr/>
        </p:nvSpPr>
        <p:spPr>
          <a:xfrm>
            <a:off x="292942" y="5540891"/>
            <a:ext cx="19156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From above,</a:t>
            </a:r>
            <a:endParaRPr lang="zh-CN" altLang="en-US" sz="2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899240-6C31-1C74-BDF6-CF7009DC5E7B}"/>
              </a:ext>
            </a:extLst>
          </p:cNvPr>
          <p:cNvSpPr txBox="1"/>
          <p:nvPr/>
        </p:nvSpPr>
        <p:spPr>
          <a:xfrm>
            <a:off x="3799002" y="5936775"/>
            <a:ext cx="3844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Alternative form of Bloch function</a:t>
            </a:r>
            <a:endParaRPr lang="zh-CN" altLang="en-US" sz="2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B0C8BC-DAAC-21D8-1E31-84118F243808}"/>
              </a:ext>
            </a:extLst>
          </p:cNvPr>
          <p:cNvSpPr txBox="1"/>
          <p:nvPr/>
        </p:nvSpPr>
        <p:spPr>
          <a:xfrm>
            <a:off x="5540914" y="4100462"/>
            <a:ext cx="200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Bloch function</a:t>
            </a:r>
            <a:endParaRPr lang="zh-CN" altLang="en-US" sz="2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8C5BB6-1DF3-56C3-A25E-653A847EBCA0}"/>
              </a:ext>
            </a:extLst>
          </p:cNvPr>
          <p:cNvSpPr txBox="1"/>
          <p:nvPr/>
        </p:nvSpPr>
        <p:spPr>
          <a:xfrm>
            <a:off x="8103159" y="5488225"/>
            <a:ext cx="40223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Straightforward to see [H, T</a:t>
            </a:r>
            <a:r>
              <a:rPr lang="en-US" altLang="zh-CN" sz="1600" baseline="-25000" dirty="0"/>
              <a:t>R</a:t>
            </a:r>
            <a:r>
              <a:rPr lang="en-US" altLang="zh-CN" sz="1600" dirty="0"/>
              <a:t>] = 0 where T</a:t>
            </a:r>
            <a:r>
              <a:rPr lang="en-US" altLang="zh-CN" sz="1600" baseline="-25000" dirty="0"/>
              <a:t>R </a:t>
            </a:r>
            <a:r>
              <a:rPr lang="en-US" altLang="zh-CN" sz="1600" dirty="0"/>
              <a:t>is any translation operator defined on the Bravais lattice. </a:t>
            </a:r>
          </a:p>
          <a:p>
            <a:r>
              <a:rPr lang="en-US" altLang="zh-CN" sz="1600"/>
              <a:t>Show this.</a:t>
            </a:r>
            <a:endParaRPr lang="en-US" altLang="zh-CN" sz="16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760C29-C32D-BB82-BE94-5D165BD99B7B}"/>
              </a:ext>
            </a:extLst>
          </p:cNvPr>
          <p:cNvSpPr txBox="1"/>
          <p:nvPr/>
        </p:nvSpPr>
        <p:spPr>
          <a:xfrm>
            <a:off x="8132368" y="5106196"/>
            <a:ext cx="898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u="sng" dirty="0"/>
              <a:t>Remark:</a:t>
            </a:r>
            <a:endParaRPr lang="zh-CN" altLang="en-US" sz="1600" u="sng" dirty="0"/>
          </a:p>
        </p:txBody>
      </p:sp>
    </p:spTree>
    <p:extLst>
      <p:ext uri="{BB962C8B-B14F-4D97-AF65-F5344CB8AC3E}">
        <p14:creationId xmlns:p14="http://schemas.microsoft.com/office/powerpoint/2010/main" val="2285474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7207D12-8DCD-379F-A87B-45BE4536DABB}"/>
              </a:ext>
            </a:extLst>
          </p:cNvPr>
          <p:cNvSpPr txBox="1"/>
          <p:nvPr/>
        </p:nvSpPr>
        <p:spPr>
          <a:xfrm>
            <a:off x="4376500" y="0"/>
            <a:ext cx="3672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Electron in a periodic potential </a:t>
            </a:r>
            <a:endParaRPr lang="zh-CN" altLang="en-US" sz="2000" b="1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2951375-A4E7-5F08-1361-0186126D5AEC}"/>
              </a:ext>
            </a:extLst>
          </p:cNvPr>
          <p:cNvCxnSpPr>
            <a:cxnSpLocks/>
          </p:cNvCxnSpPr>
          <p:nvPr/>
        </p:nvCxnSpPr>
        <p:spPr>
          <a:xfrm>
            <a:off x="8076510" y="947500"/>
            <a:ext cx="37239" cy="55815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B27210-0292-1704-9BB7-CDAE15A50905}"/>
              </a:ext>
            </a:extLst>
          </p:cNvPr>
          <p:cNvCxnSpPr>
            <a:cxnSpLocks/>
          </p:cNvCxnSpPr>
          <p:nvPr/>
        </p:nvCxnSpPr>
        <p:spPr>
          <a:xfrm>
            <a:off x="8109611" y="951638"/>
            <a:ext cx="45514" cy="5577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E5C31DE-7D9A-033D-6D6A-9EE84432D73E}"/>
              </a:ext>
            </a:extLst>
          </p:cNvPr>
          <p:cNvSpPr txBox="1"/>
          <p:nvPr/>
        </p:nvSpPr>
        <p:spPr>
          <a:xfrm>
            <a:off x="8155125" y="1673893"/>
            <a:ext cx="8585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u="sng" dirty="0"/>
              <a:t>Recap:</a:t>
            </a:r>
            <a:endParaRPr lang="zh-CN" altLang="en-US" sz="1600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9ECAB1-4933-4E1A-7875-2673340CFE93}"/>
                  </a:ext>
                </a:extLst>
              </p:cNvPr>
              <p:cNvSpPr txBox="1"/>
              <p:nvPr/>
            </p:nvSpPr>
            <p:spPr>
              <a:xfrm>
                <a:off x="292942" y="743113"/>
                <a:ext cx="2645596" cy="41177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</m:sSup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9ECAB1-4933-4E1A-7875-2673340CF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42" y="743113"/>
                <a:ext cx="2645596" cy="411779"/>
              </a:xfrm>
              <a:prstGeom prst="rect">
                <a:avLst/>
              </a:prstGeom>
              <a:blipFill>
                <a:blip r:embed="rId2"/>
                <a:stretch>
                  <a:fillRect b="-1470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6733358-E5F6-25A1-95D4-56ACEBF4A5CD}"/>
                  </a:ext>
                </a:extLst>
              </p:cNvPr>
              <p:cNvSpPr txBox="1"/>
              <p:nvPr/>
            </p:nvSpPr>
            <p:spPr>
              <a:xfrm>
                <a:off x="8132369" y="2197243"/>
                <a:ext cx="4059632" cy="36129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/>
                  <a:t>Recall that for free electron case [U(</a:t>
                </a:r>
                <a:r>
                  <a:rPr lang="en-US" altLang="zh-CN" sz="1600" b="1" dirty="0"/>
                  <a:t>r</a:t>
                </a:r>
                <a:r>
                  <a:rPr lang="en-US" altLang="zh-CN" sz="1600" dirty="0"/>
                  <a:t>) = 0], </a:t>
                </a:r>
              </a:p>
              <a:p>
                <a:endParaRPr lang="en-US" altLang="zh-CN" sz="1600" baseline="-25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en-US" altLang="zh-CN" sz="1600" dirty="0"/>
                  <a:t>Solution of the Schrodinger equation is given by, </a:t>
                </a:r>
              </a:p>
              <a:p>
                <a:endParaRPr lang="en-US" altLang="zh-CN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d>
                        <m:d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en-US" altLang="zh-CN" sz="1600" dirty="0"/>
                  <a:t>with energy    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altLang="zh-CN" sz="1600" dirty="0"/>
              </a:p>
              <a:p>
                <a:endParaRPr lang="en-US" altLang="zh-CN" sz="1600" dirty="0"/>
              </a:p>
              <a:p>
                <a:r>
                  <a:rPr lang="en-US" altLang="zh-CN" sz="1600" dirty="0"/>
                  <a:t>is also the eigenstate of momentum operator 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altLang="zh-CN" sz="1600" dirty="0"/>
                  <a:t>.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6733358-E5F6-25A1-95D4-56ACEBF4A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2369" y="2197243"/>
                <a:ext cx="4059632" cy="3612912"/>
              </a:xfrm>
              <a:prstGeom prst="rect">
                <a:avLst/>
              </a:prstGeom>
              <a:blipFill>
                <a:blip r:embed="rId3"/>
                <a:stretch>
                  <a:fillRect l="-935" t="-350" b="-139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7B0C8BC-DAAC-21D8-1E31-84118F243808}"/>
                  </a:ext>
                </a:extLst>
              </p:cNvPr>
              <p:cNvSpPr txBox="1"/>
              <p:nvPr/>
            </p:nvSpPr>
            <p:spPr>
              <a:xfrm>
                <a:off x="169881" y="1366117"/>
                <a:ext cx="7557238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000" dirty="0"/>
                  <a:t>Are the Bloch functions eigenstates of  momentum operator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ℏ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US" altLang="zh-CN" sz="2000" b="1" dirty="0"/>
                  <a:t>?</a:t>
                </a:r>
              </a:p>
              <a:p>
                <a:endParaRPr lang="en-US" altLang="zh-CN" sz="2000" b="1" dirty="0"/>
              </a:p>
              <a:p>
                <a:r>
                  <a:rPr lang="en-US" altLang="zh-CN" sz="2000" dirty="0"/>
                  <a:t>Answer: No. But why?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7B0C8BC-DAAC-21D8-1E31-84118F243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81" y="1366117"/>
                <a:ext cx="7557238" cy="1015663"/>
              </a:xfrm>
              <a:prstGeom prst="rect">
                <a:avLst/>
              </a:prstGeom>
              <a:blipFill>
                <a:blip r:embed="rId4"/>
                <a:stretch>
                  <a:fillRect l="-839" t="-2469" r="-168" b="-987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E00E0314-88E4-ECDC-865D-B3D24F33B9E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0" t="38370" r="41146" b="35747"/>
          <a:stretch/>
        </p:blipFill>
        <p:spPr>
          <a:xfrm>
            <a:off x="1554342" y="2832904"/>
            <a:ext cx="4394085" cy="17750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2110EA-8FC4-A440-94AA-6353FDFA110C}"/>
              </a:ext>
            </a:extLst>
          </p:cNvPr>
          <p:cNvSpPr txBox="1"/>
          <p:nvPr/>
        </p:nvSpPr>
        <p:spPr>
          <a:xfrm>
            <a:off x="1590202" y="2803397"/>
            <a:ext cx="761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U(</a:t>
            </a:r>
            <a:r>
              <a:rPr lang="en-US" altLang="zh-CN" b="1" dirty="0">
                <a:solidFill>
                  <a:schemeClr val="bg1"/>
                </a:solidFill>
              </a:rPr>
              <a:t>r</a:t>
            </a:r>
            <a:r>
              <a:rPr lang="en-US" altLang="zh-CN" dirty="0">
                <a:solidFill>
                  <a:schemeClr val="bg1"/>
                </a:solidFill>
              </a:rPr>
              <a:t>)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A80579-83E2-6A6F-3988-03DE13FAC5EE}"/>
              </a:ext>
            </a:extLst>
          </p:cNvPr>
          <p:cNvSpPr txBox="1"/>
          <p:nvPr/>
        </p:nvSpPr>
        <p:spPr>
          <a:xfrm>
            <a:off x="5677073" y="3400729"/>
            <a:ext cx="344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r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A5AE75-D4CF-0F9F-DC5D-5E407BD7303B}"/>
                  </a:ext>
                </a:extLst>
              </p:cNvPr>
              <p:cNvSpPr txBox="1"/>
              <p:nvPr/>
            </p:nvSpPr>
            <p:spPr>
              <a:xfrm>
                <a:off x="169881" y="5175741"/>
                <a:ext cx="776388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2000" i="1" dirty="0"/>
                  <a:t>H </a:t>
                </a:r>
                <a:r>
                  <a:rPr lang="en-CN" sz="2000" dirty="0"/>
                  <a:t>is not completely translationally invariant becaue of the presence of non-contant potential U(</a:t>
                </a:r>
                <a:r>
                  <a:rPr lang="en-CN" sz="2000" b="1" dirty="0"/>
                  <a:t>r</a:t>
                </a:r>
                <a:r>
                  <a:rPr lang="en-CN" sz="2000" dirty="0"/>
                  <a:t>). </a:t>
                </a:r>
              </a:p>
              <a:p>
                <a:r>
                  <a:rPr lang="en-CN" sz="2000" dirty="0"/>
                  <a:t>Hence, eigenstates of </a:t>
                </a:r>
                <a:r>
                  <a:rPr lang="en-CN" sz="2000" i="1" dirty="0"/>
                  <a:t>H</a:t>
                </a:r>
                <a:r>
                  <a:rPr lang="en-CN" sz="2000" dirty="0"/>
                  <a:t> cannot be simultaneous eigenstates of </a:t>
                </a:r>
                <a:r>
                  <a:rPr lang="en-US" altLang="zh-CN" sz="2000" dirty="0"/>
                  <a:t>momentum operator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CN" sz="200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A5AE75-D4CF-0F9F-DC5D-5E407BD73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81" y="5175741"/>
                <a:ext cx="7763884" cy="1323439"/>
              </a:xfrm>
              <a:prstGeom prst="rect">
                <a:avLst/>
              </a:prstGeom>
              <a:blipFill>
                <a:blip r:embed="rId6"/>
                <a:stretch>
                  <a:fillRect l="-817" t="-1905" r="-817" b="-761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199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7207D12-8DCD-379F-A87B-45BE4536DABB}"/>
              </a:ext>
            </a:extLst>
          </p:cNvPr>
          <p:cNvSpPr txBox="1"/>
          <p:nvPr/>
        </p:nvSpPr>
        <p:spPr>
          <a:xfrm>
            <a:off x="4376500" y="0"/>
            <a:ext cx="3672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Electron in a periodic potential </a:t>
            </a:r>
            <a:endParaRPr lang="zh-CN" altLang="en-US" sz="2000" b="1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2951375-A4E7-5F08-1361-0186126D5AEC}"/>
              </a:ext>
            </a:extLst>
          </p:cNvPr>
          <p:cNvCxnSpPr>
            <a:cxnSpLocks/>
          </p:cNvCxnSpPr>
          <p:nvPr/>
        </p:nvCxnSpPr>
        <p:spPr>
          <a:xfrm>
            <a:off x="8076510" y="947500"/>
            <a:ext cx="37239" cy="55815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B27210-0292-1704-9BB7-CDAE15A50905}"/>
              </a:ext>
            </a:extLst>
          </p:cNvPr>
          <p:cNvCxnSpPr>
            <a:cxnSpLocks/>
          </p:cNvCxnSpPr>
          <p:nvPr/>
        </p:nvCxnSpPr>
        <p:spPr>
          <a:xfrm>
            <a:off x="8109611" y="951638"/>
            <a:ext cx="45514" cy="5577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E5C31DE-7D9A-033D-6D6A-9EE84432D73E}"/>
              </a:ext>
            </a:extLst>
          </p:cNvPr>
          <p:cNvSpPr txBox="1"/>
          <p:nvPr/>
        </p:nvSpPr>
        <p:spPr>
          <a:xfrm>
            <a:off x="8076510" y="3584393"/>
            <a:ext cx="1072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u="sng" dirty="0"/>
              <a:t>Recap:</a:t>
            </a:r>
            <a:endParaRPr lang="zh-CN" altLang="en-US" sz="1600" u="sn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C734CA-E027-E31E-F817-BA0BF77494BE}"/>
              </a:ext>
            </a:extLst>
          </p:cNvPr>
          <p:cNvSpPr txBox="1"/>
          <p:nvPr/>
        </p:nvSpPr>
        <p:spPr>
          <a:xfrm>
            <a:off x="8169607" y="972668"/>
            <a:ext cx="11176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u="sng" dirty="0"/>
              <a:t>Remark:</a:t>
            </a:r>
            <a:endParaRPr lang="zh-CN" altLang="en-US" sz="1600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CFFAB50-FA14-4967-4B21-2F168F49F252}"/>
                  </a:ext>
                </a:extLst>
              </p:cNvPr>
              <p:cNvSpPr txBox="1"/>
              <p:nvPr/>
            </p:nvSpPr>
            <p:spPr>
              <a:xfrm>
                <a:off x="137484" y="726446"/>
                <a:ext cx="587502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CN" sz="2000" dirty="0"/>
                  <a:t> which obeys Born-von Karman Boundary condition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CFFAB50-FA14-4967-4B21-2F168F49F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84" y="726446"/>
                <a:ext cx="5875021" cy="400110"/>
              </a:xfrm>
              <a:prstGeom prst="rect">
                <a:avLst/>
              </a:prstGeom>
              <a:blipFill>
                <a:blip r:embed="rId2"/>
                <a:stretch>
                  <a:fillRect l="-648" t="-9375" b="-25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553ABE5-6A9C-1007-17D2-9890493C5DC2}"/>
                  </a:ext>
                </a:extLst>
              </p:cNvPr>
              <p:cNvSpPr txBox="1"/>
              <p:nvPr/>
            </p:nvSpPr>
            <p:spPr>
              <a:xfrm>
                <a:off x="733195" y="1280445"/>
                <a:ext cx="42075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=1,2,3</m:t>
                      </m:r>
                    </m:oMath>
                  </m:oMathPara>
                </a14:m>
                <a:endParaRPr lang="en-CN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553ABE5-6A9C-1007-17D2-9890493C5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95" y="1280445"/>
                <a:ext cx="4207542" cy="400110"/>
              </a:xfrm>
              <a:prstGeom prst="rect">
                <a:avLst/>
              </a:prstGeom>
              <a:blipFill>
                <a:blip r:embed="rId3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CF2F48A-7771-19EA-6A4B-7E0650F3D369}"/>
              </a:ext>
            </a:extLst>
          </p:cNvPr>
          <p:cNvSpPr txBox="1"/>
          <p:nvPr/>
        </p:nvSpPr>
        <p:spPr>
          <a:xfrm>
            <a:off x="97924" y="1916893"/>
            <a:ext cx="8035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C</a:t>
            </a:r>
            <a:r>
              <a:rPr lang="en-CN" sz="2000" dirty="0"/>
              <a:t>an be expanded in the set of all plane wave satisfying the above condition.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E9139C-0570-BA7B-EB91-E900BD21AAE9}"/>
                  </a:ext>
                </a:extLst>
              </p:cNvPr>
              <p:cNvSpPr txBox="1"/>
              <p:nvPr/>
            </p:nvSpPr>
            <p:spPr>
              <a:xfrm>
                <a:off x="2015909" y="2565289"/>
                <a:ext cx="3507129" cy="4448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0" dirty="0"/>
                  <a:t>i.e.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sub>
                        </m:sSub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p>
                        </m:sSup>
                      </m:e>
                    </m:nary>
                  </m:oMath>
                </a14:m>
                <a:endParaRPr lang="en-CN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E9139C-0570-BA7B-EB91-E900BD21A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909" y="2565289"/>
                <a:ext cx="3507129" cy="444865"/>
              </a:xfrm>
              <a:prstGeom prst="rect">
                <a:avLst/>
              </a:prstGeom>
              <a:blipFill>
                <a:blip r:embed="rId4"/>
                <a:stretch>
                  <a:fillRect l="-1913" t="-106849" b="-1589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5438076-5214-393C-DBCB-F702E9C8F1DC}"/>
              </a:ext>
            </a:extLst>
          </p:cNvPr>
          <p:cNvSpPr txBox="1"/>
          <p:nvPr/>
        </p:nvSpPr>
        <p:spPr>
          <a:xfrm>
            <a:off x="137484" y="3366911"/>
            <a:ext cx="58750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/>
              <a:t>Periodic potential U(</a:t>
            </a:r>
            <a:r>
              <a:rPr lang="en-US" sz="2000" b="1" dirty="0"/>
              <a:t>r</a:t>
            </a:r>
            <a:r>
              <a:rPr lang="en-US" sz="2000" b="0" dirty="0"/>
              <a:t>) can also be expand as, </a:t>
            </a:r>
            <a:endParaRPr lang="en-C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212641-CFF1-6311-7543-9CE26A707463}"/>
                  </a:ext>
                </a:extLst>
              </p:cNvPr>
              <p:cNvSpPr txBox="1"/>
              <p:nvPr/>
            </p:nvSpPr>
            <p:spPr>
              <a:xfrm>
                <a:off x="2104940" y="4031632"/>
                <a:ext cx="2835797" cy="4180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2000" dirty="0"/>
                  <a:t>U(</a:t>
                </a:r>
                <a:r>
                  <a:rPr lang="en-CN" sz="2000" b="1" dirty="0"/>
                  <a:t>r</a:t>
                </a:r>
                <a:r>
                  <a:rPr lang="en-CN" sz="2000" dirty="0"/>
                  <a:t>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𝑲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CN" sz="2000" b="1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212641-CFF1-6311-7543-9CE26A707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940" y="4031632"/>
                <a:ext cx="2835797" cy="418063"/>
              </a:xfrm>
              <a:prstGeom prst="rect">
                <a:avLst/>
              </a:prstGeom>
              <a:blipFill>
                <a:blip r:embed="rId5"/>
                <a:stretch>
                  <a:fillRect l="-2151" t="-113043" b="-1739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C8F397E-007B-DE68-1400-80D800905CFE}"/>
              </a:ext>
            </a:extLst>
          </p:cNvPr>
          <p:cNvSpPr txBox="1"/>
          <p:nvPr/>
        </p:nvSpPr>
        <p:spPr>
          <a:xfrm>
            <a:off x="270781" y="4674312"/>
            <a:ext cx="66322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w</a:t>
            </a:r>
            <a:r>
              <a:rPr lang="en-CN" sz="2000" dirty="0"/>
              <a:t>here </a:t>
            </a:r>
            <a:r>
              <a:rPr lang="en-CN" sz="2000" b="1" i="1" dirty="0"/>
              <a:t>K </a:t>
            </a:r>
            <a:r>
              <a:rPr lang="en-CN" sz="2000" dirty="0"/>
              <a:t>are the vectors of the recoprocal lattice.</a:t>
            </a:r>
            <a:endParaRPr lang="en-CN" sz="2000" b="1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37B821-6C69-C109-7DA3-C62DFE880C6D}"/>
              </a:ext>
            </a:extLst>
          </p:cNvPr>
          <p:cNvSpPr txBox="1"/>
          <p:nvPr/>
        </p:nvSpPr>
        <p:spPr>
          <a:xfrm>
            <a:off x="6516547" y="2559573"/>
            <a:ext cx="6694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dirty="0"/>
              <a:t>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887FAD-44EA-5DA9-F484-86D88C42AD8B}"/>
              </a:ext>
            </a:extLst>
          </p:cNvPr>
          <p:cNvSpPr txBox="1"/>
          <p:nvPr/>
        </p:nvSpPr>
        <p:spPr>
          <a:xfrm>
            <a:off x="6516547" y="3922947"/>
            <a:ext cx="6694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dirty="0"/>
              <a:t>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9901E00-FF79-F8B2-95A1-14792161FEBE}"/>
                  </a:ext>
                </a:extLst>
              </p:cNvPr>
              <p:cNvSpPr txBox="1"/>
              <p:nvPr/>
            </p:nvSpPr>
            <p:spPr>
              <a:xfrm>
                <a:off x="1420908" y="5978337"/>
                <a:ext cx="3675184" cy="5507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ℏ</m:t>
                            </m:r>
                            <m:r>
                              <a:rPr lang="en-US" altLang="zh-CN" sz="2000" b="0" i="1" baseline="30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altLang="zh-CN" sz="20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altLang="zh-CN" sz="2000" dirty="0"/>
                  <a:t> 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9901E00-FF79-F8B2-95A1-14792161F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908" y="5978337"/>
                <a:ext cx="3675184" cy="5507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D13F486-7208-4A20-AEC6-9C11B6EA6C62}"/>
              </a:ext>
            </a:extLst>
          </p:cNvPr>
          <p:cNvSpPr txBox="1"/>
          <p:nvPr/>
        </p:nvSpPr>
        <p:spPr>
          <a:xfrm>
            <a:off x="270781" y="5260036"/>
            <a:ext cx="5715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dirty="0"/>
              <a:t>Putting (1) and (2) in the Schrodinger eq. below, </a:t>
            </a:r>
          </a:p>
        </p:txBody>
      </p:sp>
    </p:spTree>
    <p:extLst>
      <p:ext uri="{BB962C8B-B14F-4D97-AF65-F5344CB8AC3E}">
        <p14:creationId xmlns:p14="http://schemas.microsoft.com/office/powerpoint/2010/main" val="18981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7207D12-8DCD-379F-A87B-45BE4536DABB}"/>
              </a:ext>
            </a:extLst>
          </p:cNvPr>
          <p:cNvSpPr txBox="1"/>
          <p:nvPr/>
        </p:nvSpPr>
        <p:spPr>
          <a:xfrm>
            <a:off x="4376500" y="0"/>
            <a:ext cx="3672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Electron in a periodic potential </a:t>
            </a:r>
            <a:endParaRPr lang="zh-CN" altLang="en-US" sz="2000" b="1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2951375-A4E7-5F08-1361-0186126D5AEC}"/>
              </a:ext>
            </a:extLst>
          </p:cNvPr>
          <p:cNvCxnSpPr>
            <a:cxnSpLocks/>
          </p:cNvCxnSpPr>
          <p:nvPr/>
        </p:nvCxnSpPr>
        <p:spPr>
          <a:xfrm>
            <a:off x="8076510" y="947500"/>
            <a:ext cx="37239" cy="55815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B27210-0292-1704-9BB7-CDAE15A50905}"/>
              </a:ext>
            </a:extLst>
          </p:cNvPr>
          <p:cNvCxnSpPr>
            <a:cxnSpLocks/>
          </p:cNvCxnSpPr>
          <p:nvPr/>
        </p:nvCxnSpPr>
        <p:spPr>
          <a:xfrm>
            <a:off x="8109611" y="951638"/>
            <a:ext cx="45514" cy="55774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E5C31DE-7D9A-033D-6D6A-9EE84432D73E}"/>
              </a:ext>
            </a:extLst>
          </p:cNvPr>
          <p:cNvSpPr txBox="1"/>
          <p:nvPr/>
        </p:nvSpPr>
        <p:spPr>
          <a:xfrm>
            <a:off x="8076510" y="3584393"/>
            <a:ext cx="1072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u="sng" dirty="0"/>
              <a:t>Recap:</a:t>
            </a:r>
            <a:endParaRPr lang="zh-CN" altLang="en-US" sz="1600" u="sn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C734CA-E027-E31E-F817-BA0BF77494BE}"/>
              </a:ext>
            </a:extLst>
          </p:cNvPr>
          <p:cNvSpPr txBox="1"/>
          <p:nvPr/>
        </p:nvSpPr>
        <p:spPr>
          <a:xfrm>
            <a:off x="8169607" y="972668"/>
            <a:ext cx="11176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u="sng" dirty="0"/>
              <a:t>Remark:</a:t>
            </a:r>
            <a:endParaRPr lang="zh-CN" altLang="en-US" sz="1600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1AEB4C-AB68-4D2C-88EE-1DA96C90D194}"/>
              </a:ext>
            </a:extLst>
          </p:cNvPr>
          <p:cNvSpPr txBox="1"/>
          <p:nvPr/>
        </p:nvSpPr>
        <p:spPr>
          <a:xfrm>
            <a:off x="57949" y="747445"/>
            <a:ext cx="65857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dirty="0"/>
              <a:t>We obtain set of Schrodinger eq in momentum space as,</a:t>
            </a:r>
          </a:p>
          <a:p>
            <a:endParaRPr lang="en-C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B3EB6C-9396-F026-ABE6-8263DF5454FA}"/>
                  </a:ext>
                </a:extLst>
              </p:cNvPr>
              <p:cNvSpPr txBox="1"/>
              <p:nvPr/>
            </p:nvSpPr>
            <p:spPr>
              <a:xfrm>
                <a:off x="311151" y="1455331"/>
                <a:ext cx="5552347" cy="86318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′−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en-CN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AB3EB6C-9396-F026-ABE6-8263DF545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51" y="1455331"/>
                <a:ext cx="5552347" cy="863185"/>
              </a:xfrm>
              <a:prstGeom prst="rect">
                <a:avLst/>
              </a:prstGeom>
              <a:blipFill>
                <a:blip r:embed="rId2"/>
                <a:stretch>
                  <a:fillRect t="-117391" b="-16956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C863E06-4489-807D-FA4C-8EA4234BDDCD}"/>
                  </a:ext>
                </a:extLst>
              </p:cNvPr>
              <p:cNvSpPr txBox="1"/>
              <p:nvPr/>
            </p:nvSpPr>
            <p:spPr>
              <a:xfrm>
                <a:off x="183441" y="2672459"/>
                <a:ext cx="7702737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i="1" dirty="0"/>
                  <a:t>Crystal momentum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CN" sz="2000" b="1" dirty="0"/>
                  <a:t> </a:t>
                </a:r>
                <a:r>
                  <a:rPr lang="en-CN" sz="2000" dirty="0"/>
                  <a:t>(in 1st BZ)</a:t>
                </a:r>
                <a:r>
                  <a:rPr lang="en-CN" sz="2000" b="1" dirty="0"/>
                  <a:t> </a:t>
                </a:r>
                <a:r>
                  <a:rPr lang="en-CN" sz="2000" dirty="0"/>
                  <a:t>can be view as a quantum number originated from the translational symmetry of the periodic potential. </a:t>
                </a:r>
              </a:p>
              <a:p>
                <a:endParaRPr lang="en-CN" sz="2000" dirty="0"/>
              </a:p>
              <a:p>
                <a:r>
                  <a:rPr lang="en-CN" sz="2000" dirty="0"/>
                  <a:t>Note: For fixed </a:t>
                </a:r>
                <a:r>
                  <a:rPr lang="en-CN" sz="2000" b="1" i="1" dirty="0"/>
                  <a:t>k</a:t>
                </a:r>
                <a:r>
                  <a:rPr lang="en-CN" sz="2000" dirty="0"/>
                  <a:t>, one will have many solutions to the above equation. </a:t>
                </a:r>
              </a:p>
              <a:p>
                <a:endParaRPr lang="en-CN" sz="2000" dirty="0"/>
              </a:p>
              <a:p>
                <a:endParaRPr lang="en-CN" sz="2000" dirty="0"/>
              </a:p>
              <a:p>
                <a:r>
                  <a:rPr lang="en-CN" sz="2000" dirty="0"/>
                  <a:t>Hence, another index </a:t>
                </a:r>
                <a:r>
                  <a:rPr lang="en-CN" sz="2000" i="1" dirty="0"/>
                  <a:t>n </a:t>
                </a:r>
                <a:r>
                  <a:rPr lang="en-CN" sz="2000" dirty="0"/>
                  <a:t>is needed to label these solutions.</a:t>
                </a:r>
                <a:endParaRPr lang="en-CN" sz="2000" i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C863E06-4489-807D-FA4C-8EA4234BD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41" y="2672459"/>
                <a:ext cx="7702737" cy="2246769"/>
              </a:xfrm>
              <a:prstGeom prst="rect">
                <a:avLst/>
              </a:prstGeom>
              <a:blipFill>
                <a:blip r:embed="rId3"/>
                <a:stretch>
                  <a:fillRect l="-791" t="-1355" b="-37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Down Arrow 17">
            <a:extLst>
              <a:ext uri="{FF2B5EF4-FFF2-40B4-BE49-F238E27FC236}">
                <a16:creationId xmlns:a16="http://schemas.microsoft.com/office/drawing/2014/main" id="{DEF8B7D4-779E-EE6C-7F6B-45048F443565}"/>
              </a:ext>
            </a:extLst>
          </p:cNvPr>
          <p:cNvSpPr/>
          <p:nvPr/>
        </p:nvSpPr>
        <p:spPr>
          <a:xfrm>
            <a:off x="3871913" y="3992595"/>
            <a:ext cx="504587" cy="4633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865EE5-8779-3011-281E-74AC6E4E7D6A}"/>
                  </a:ext>
                </a:extLst>
              </p:cNvPr>
              <p:cNvSpPr txBox="1"/>
              <p:nvPr/>
            </p:nvSpPr>
            <p:spPr>
              <a:xfrm>
                <a:off x="2549115" y="5512573"/>
                <a:ext cx="2645596" cy="41177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</m:sSup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865EE5-8779-3011-281E-74AC6E4E7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115" y="5512573"/>
                <a:ext cx="2645596" cy="411779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E09619C3-6C9D-3911-D96C-715BA9286534}"/>
              </a:ext>
            </a:extLst>
          </p:cNvPr>
          <p:cNvSpPr/>
          <p:nvPr/>
        </p:nvSpPr>
        <p:spPr>
          <a:xfrm>
            <a:off x="2854460" y="5746490"/>
            <a:ext cx="144813" cy="1613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42AC07B-C831-D3FC-12A0-298CD8B15C4F}"/>
              </a:ext>
            </a:extLst>
          </p:cNvPr>
          <p:cNvSpPr/>
          <p:nvPr/>
        </p:nvSpPr>
        <p:spPr>
          <a:xfrm>
            <a:off x="4447266" y="5737525"/>
            <a:ext cx="144813" cy="1613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C06873-AA30-3829-F3A8-3D6C061F0C56}"/>
              </a:ext>
            </a:extLst>
          </p:cNvPr>
          <p:cNvSpPr txBox="1"/>
          <p:nvPr/>
        </p:nvSpPr>
        <p:spPr>
          <a:xfrm>
            <a:off x="183441" y="5015845"/>
            <a:ext cx="4045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Recall the form of Bloch function</a:t>
            </a:r>
            <a:endParaRPr lang="zh-CN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858DAB-3CD3-D971-156D-BC7C94CEBD0D}"/>
              </a:ext>
            </a:extLst>
          </p:cNvPr>
          <p:cNvSpPr txBox="1"/>
          <p:nvPr/>
        </p:nvSpPr>
        <p:spPr>
          <a:xfrm>
            <a:off x="57949" y="6158269"/>
            <a:ext cx="7058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Substituting it into the Schrodinger equation, for a fixed </a:t>
            </a:r>
            <a:r>
              <a:rPr lang="en-US" altLang="zh-CN" sz="2000" b="1" i="1" dirty="0"/>
              <a:t>k</a:t>
            </a:r>
            <a:r>
              <a:rPr lang="en-US" altLang="zh-CN" sz="2000" dirty="0"/>
              <a:t>, we have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40562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7207D12-8DCD-379F-A87B-45BE4536DABB}"/>
              </a:ext>
            </a:extLst>
          </p:cNvPr>
          <p:cNvSpPr txBox="1"/>
          <p:nvPr/>
        </p:nvSpPr>
        <p:spPr>
          <a:xfrm>
            <a:off x="4376500" y="0"/>
            <a:ext cx="3672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Electron in a periodic potential </a:t>
            </a:r>
            <a:endParaRPr lang="zh-CN" altLang="en-US" sz="2000" b="1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2951375-A4E7-5F08-1361-0186126D5AEC}"/>
              </a:ext>
            </a:extLst>
          </p:cNvPr>
          <p:cNvCxnSpPr>
            <a:cxnSpLocks/>
          </p:cNvCxnSpPr>
          <p:nvPr/>
        </p:nvCxnSpPr>
        <p:spPr>
          <a:xfrm>
            <a:off x="8076510" y="947500"/>
            <a:ext cx="13819" cy="3310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B27210-0292-1704-9BB7-CDAE15A50905}"/>
              </a:ext>
            </a:extLst>
          </p:cNvPr>
          <p:cNvCxnSpPr>
            <a:cxnSpLocks/>
          </p:cNvCxnSpPr>
          <p:nvPr/>
        </p:nvCxnSpPr>
        <p:spPr>
          <a:xfrm>
            <a:off x="8109611" y="951638"/>
            <a:ext cx="17773" cy="33059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E5C31DE-7D9A-033D-6D6A-9EE84432D73E}"/>
              </a:ext>
            </a:extLst>
          </p:cNvPr>
          <p:cNvSpPr txBox="1"/>
          <p:nvPr/>
        </p:nvSpPr>
        <p:spPr>
          <a:xfrm>
            <a:off x="8225485" y="772560"/>
            <a:ext cx="1072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u="sng" dirty="0"/>
              <a:t>Recall:</a:t>
            </a:r>
            <a:endParaRPr lang="zh-CN" altLang="en-US" sz="1600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47AF8D0-881A-25D7-433B-DBA5F326003D}"/>
                  </a:ext>
                </a:extLst>
              </p:cNvPr>
              <p:cNvSpPr txBox="1"/>
              <p:nvPr/>
            </p:nvSpPr>
            <p:spPr>
              <a:xfrm>
                <a:off x="794660" y="1340911"/>
                <a:ext cx="6727418" cy="808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i="1" baseline="-2500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1" i="1" baseline="-25000" smtClean="0">
                          <a:latin typeface="Cambria Math" panose="02040503050406030204" pitchFamily="18" charset="0"/>
                        </a:rPr>
                        <m:t>𝒌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altLang="zh-CN" b="1" i="0" smtClean="0">
                                      <a:latin typeface="Cambria Math" panose="02040503050406030204" pitchFamily="18" charset="0"/>
                                    </a:rPr>
                                    <m:t>𝛁</m:t>
                                  </m:r>
                                  <m:r>
                                    <a:rPr lang="en-US" altLang="zh-CN" b="1" i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i="1" baseline="-2500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1" i="1" baseline="-25000">
                          <a:latin typeface="Cambria Math" panose="02040503050406030204" pitchFamily="18" charset="0"/>
                        </a:rPr>
                        <m:t>𝒌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i="1" baseline="-2500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1" i="1" baseline="-25000">
                          <a:latin typeface="Cambria Math" panose="02040503050406030204" pitchFamily="18" charset="0"/>
                        </a:rPr>
                        <m:t>𝒌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m:oMathPara>
                </a14:m>
                <a:endParaRPr lang="zh-CN" altLang="en-US" b="1" baseline="-25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47AF8D0-881A-25D7-433B-DBA5F3260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660" y="1340911"/>
                <a:ext cx="6727418" cy="8082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F5DD850-F4D4-09D8-4B92-EBC42B47B542}"/>
              </a:ext>
            </a:extLst>
          </p:cNvPr>
          <p:cNvSpPr txBox="1"/>
          <p:nvPr/>
        </p:nvSpPr>
        <p:spPr>
          <a:xfrm>
            <a:off x="45762" y="578168"/>
            <a:ext cx="70581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Substituting it into the Schrodinger equation, for a fixed </a:t>
            </a:r>
            <a:r>
              <a:rPr lang="en-US" altLang="zh-CN" sz="2000" b="1" i="1" dirty="0"/>
              <a:t>k</a:t>
            </a:r>
            <a:r>
              <a:rPr lang="en-US" altLang="zh-CN" sz="2000" dirty="0"/>
              <a:t>, we have the eigenvalue problem as,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241B8D-CBEA-4104-61EF-B2665D97CB9E}"/>
                  </a:ext>
                </a:extLst>
              </p:cNvPr>
              <p:cNvSpPr txBox="1"/>
              <p:nvPr/>
            </p:nvSpPr>
            <p:spPr>
              <a:xfrm>
                <a:off x="8297911" y="1202421"/>
                <a:ext cx="2645596" cy="41177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p>
                      </m:sSup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241B8D-CBEA-4104-61EF-B2665D97C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7911" y="1202421"/>
                <a:ext cx="2645596" cy="411779"/>
              </a:xfrm>
              <a:prstGeom prst="rect">
                <a:avLst/>
              </a:prstGeom>
              <a:blipFill>
                <a:blip r:embed="rId3"/>
                <a:stretch>
                  <a:fillRect b="-142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B8EFFE-7C3A-3F0C-2BC9-21618FC051E7}"/>
                  </a:ext>
                </a:extLst>
              </p:cNvPr>
              <p:cNvSpPr txBox="1"/>
              <p:nvPr/>
            </p:nvSpPr>
            <p:spPr>
              <a:xfrm>
                <a:off x="95164" y="2392729"/>
                <a:ext cx="594566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with boundary condition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zh-CN" sz="2000" b="1" dirty="0" smtClean="0"/>
                          <m:t>R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endParaRPr lang="zh-CN" altLang="en-US" sz="2000" dirty="0"/>
              </a:p>
              <a:p>
                <a:r>
                  <a:rPr lang="en-US" altLang="zh-CN" sz="2000" dirty="0"/>
                  <a:t> 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B8EFFE-7C3A-3F0C-2BC9-21618FC05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64" y="2392729"/>
                <a:ext cx="5945668" cy="707886"/>
              </a:xfrm>
              <a:prstGeom prst="rect">
                <a:avLst/>
              </a:prstGeom>
              <a:blipFill>
                <a:blip r:embed="rId4"/>
                <a:stretch>
                  <a:fillRect l="-1128" t="-51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7B5E49-2E83-72A4-997A-075CF571119F}"/>
                  </a:ext>
                </a:extLst>
              </p:cNvPr>
              <p:cNvSpPr txBox="1"/>
              <p:nvPr/>
            </p:nvSpPr>
            <p:spPr>
              <a:xfrm>
                <a:off x="45762" y="2927840"/>
                <a:ext cx="7960410" cy="2154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Things to note: </a:t>
                </a:r>
              </a:p>
              <a:p>
                <a:endParaRPr lang="en-US" altLang="zh-CN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CN" sz="2000" dirty="0"/>
                  <a:t>For two </a:t>
                </a:r>
                <a:r>
                  <a:rPr lang="en-US" altLang="zh-CN" sz="2000" b="1" i="1" dirty="0"/>
                  <a:t>k </a:t>
                </a:r>
                <a:r>
                  <a:rPr lang="en-US" altLang="zh-CN" sz="2000" dirty="0"/>
                  <a:t> values differ only by reciprocal lattice vector, eigenfunctions and eigenvalues must be identical.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CN" sz="2000" dirty="0"/>
                  <a:t>Energy levels</a:t>
                </a:r>
                <a:r>
                  <a:rPr lang="en-US" altLang="zh-CN" sz="2000" i="1" dirty="0"/>
                  <a:t> </a:t>
                </a:r>
                <a:r>
                  <a:rPr lang="en-US" altLang="zh-CN" sz="2000" dirty="0"/>
                  <a:t>represented by eigenvalues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/>
                  <a:t>is periodic function of </a:t>
                </a:r>
                <a:r>
                  <a:rPr lang="en-US" altLang="zh-CN" sz="2000" b="1" i="1" dirty="0"/>
                  <a:t>k </a:t>
                </a:r>
                <a:r>
                  <a:rPr lang="en-US" altLang="zh-CN" sz="2000" dirty="0"/>
                  <a:t> and vary continuously as </a:t>
                </a:r>
                <a:r>
                  <a:rPr lang="en-US" altLang="zh-CN" sz="2000" b="1" i="1" dirty="0"/>
                  <a:t>k </a:t>
                </a:r>
                <a:r>
                  <a:rPr lang="en-US" altLang="zh-CN" sz="2000" dirty="0"/>
                  <a:t>varies. </a:t>
                </a:r>
              </a:p>
              <a:p>
                <a:endParaRPr lang="zh-CN" altLang="en-US" b="1" i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7B5E49-2E83-72A4-997A-075CF5711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2" y="2927840"/>
                <a:ext cx="7960410" cy="2154436"/>
              </a:xfrm>
              <a:prstGeom prst="rect">
                <a:avLst/>
              </a:prstGeom>
              <a:blipFill>
                <a:blip r:embed="rId5"/>
                <a:stretch>
                  <a:fillRect l="-690" t="-1412" r="-1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069579-DEB4-218F-C9EB-246B1A1CAF99}"/>
                  </a:ext>
                </a:extLst>
              </p:cNvPr>
              <p:cNvSpPr txBox="1"/>
              <p:nvPr/>
            </p:nvSpPr>
            <p:spPr>
              <a:xfrm>
                <a:off x="74910" y="5731497"/>
                <a:ext cx="8966769" cy="70788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/>
                  <a:t>Energy levels of an electron in a periodic potential: </a:t>
                </a:r>
              </a:p>
              <a:p>
                <a:r>
                  <a:rPr lang="en-US" altLang="zh-CN" sz="2000" b="1" dirty="0"/>
                  <a:t>family of continuous 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𝒏𝒌</m:t>
                        </m:r>
                      </m:sub>
                    </m:sSub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000" b="1" dirty="0"/>
                  <a:t> each with periodicity of reciprocal lattice.  </a:t>
                </a:r>
                <a:endParaRPr lang="zh-CN" altLang="en-US" sz="20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069579-DEB4-218F-C9EB-246B1A1CA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10" y="5731497"/>
                <a:ext cx="8966769" cy="707886"/>
              </a:xfrm>
              <a:prstGeom prst="rect">
                <a:avLst/>
              </a:prstGeom>
              <a:blipFill>
                <a:blip r:embed="rId6"/>
                <a:stretch>
                  <a:fillRect l="-542" t="-2479" b="-11570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22AA428A-7262-F344-EEE3-348F0F586097}"/>
              </a:ext>
            </a:extLst>
          </p:cNvPr>
          <p:cNvSpPr txBox="1"/>
          <p:nvPr/>
        </p:nvSpPr>
        <p:spPr>
          <a:xfrm>
            <a:off x="8312372" y="1871343"/>
            <a:ext cx="11176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u="sng" dirty="0"/>
              <a:t>Remark:</a:t>
            </a:r>
            <a:endParaRPr lang="zh-CN" altLang="en-US" sz="1600" u="sng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02C4D4-811B-702B-4F5C-B79F652F7F00}"/>
              </a:ext>
            </a:extLst>
          </p:cNvPr>
          <p:cNvSpPr txBox="1"/>
          <p:nvPr/>
        </p:nvSpPr>
        <p:spPr>
          <a:xfrm>
            <a:off x="8312372" y="2209897"/>
            <a:ext cx="37237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How do we solve this eigenvalue problem?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AFFD8B3-4440-53EF-909A-35AC0C2C1A5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1" t="3928" r="5552"/>
          <a:stretch/>
        </p:blipFill>
        <p:spPr>
          <a:xfrm>
            <a:off x="9265334" y="5082276"/>
            <a:ext cx="1215615" cy="168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39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069579-DEB4-218F-C9EB-246B1A1CAF99}"/>
                  </a:ext>
                </a:extLst>
              </p:cNvPr>
              <p:cNvSpPr txBox="1"/>
              <p:nvPr/>
            </p:nvSpPr>
            <p:spPr>
              <a:xfrm>
                <a:off x="2048089" y="87975"/>
                <a:ext cx="8560605" cy="70788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/>
                  <a:t>Energy levels of an electron in a periodic potential: </a:t>
                </a:r>
              </a:p>
              <a:p>
                <a:r>
                  <a:rPr lang="en-US" altLang="zh-CN" sz="2000" b="1" dirty="0"/>
                  <a:t>family of continuous 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𝒏𝒌</m:t>
                        </m:r>
                      </m:sub>
                    </m:sSub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000" b="1" dirty="0"/>
                  <a:t> each with periodicity of reciprocal lattice.  </a:t>
                </a:r>
                <a:endParaRPr lang="zh-CN" altLang="en-US" sz="2000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069579-DEB4-218F-C9EB-246B1A1CA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089" y="87975"/>
                <a:ext cx="8560605" cy="707886"/>
              </a:xfrm>
              <a:prstGeom prst="rect">
                <a:avLst/>
              </a:prstGeom>
              <a:blipFill>
                <a:blip r:embed="rId2"/>
                <a:stretch>
                  <a:fillRect l="-639" t="-2459" r="-1703" b="-1065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5F82AB7-70BF-141F-A6A3-D1E9ABE176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1" t="2619" r="908" b="59393"/>
          <a:stretch/>
        </p:blipFill>
        <p:spPr>
          <a:xfrm>
            <a:off x="2077053" y="1667434"/>
            <a:ext cx="6724392" cy="22260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E093DA-558E-63D6-1C05-0649E61A5277}"/>
                  </a:ext>
                </a:extLst>
              </p:cNvPr>
              <p:cNvSpPr txBox="1"/>
              <p:nvPr/>
            </p:nvSpPr>
            <p:spPr>
              <a:xfrm>
                <a:off x="2402886" y="1761264"/>
                <a:ext cx="1631231" cy="7099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E093DA-558E-63D6-1C05-0649E61A5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886" y="1761264"/>
                <a:ext cx="1631231" cy="7099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F54101EC-01CC-85E9-20BE-9F34A43F339B}"/>
              </a:ext>
            </a:extLst>
          </p:cNvPr>
          <p:cNvSpPr txBox="1"/>
          <p:nvPr/>
        </p:nvSpPr>
        <p:spPr>
          <a:xfrm>
            <a:off x="2077053" y="1123524"/>
            <a:ext cx="29376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Free electron gas, U(</a:t>
            </a:r>
            <a:r>
              <a:rPr lang="en-US" altLang="zh-CN" sz="2000" b="1" dirty="0"/>
              <a:t>r</a:t>
            </a:r>
            <a:r>
              <a:rPr lang="en-US" altLang="zh-CN" sz="2000" dirty="0"/>
              <a:t>) = 0</a:t>
            </a:r>
            <a:endParaRPr lang="zh-CN" alt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9C4FA6-64BD-0947-43D4-2DCF0A68E42D}"/>
              </a:ext>
            </a:extLst>
          </p:cNvPr>
          <p:cNvSpPr txBox="1"/>
          <p:nvPr/>
        </p:nvSpPr>
        <p:spPr>
          <a:xfrm>
            <a:off x="5742235" y="1141305"/>
            <a:ext cx="4043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Electron  in a periodic potential U(</a:t>
            </a:r>
            <a:r>
              <a:rPr lang="en-US" altLang="zh-CN" sz="2000" b="1" dirty="0"/>
              <a:t>r</a:t>
            </a:r>
            <a:r>
              <a:rPr lang="en-US" altLang="zh-CN" sz="2000" dirty="0"/>
              <a:t>) </a:t>
            </a:r>
            <a:endParaRPr lang="zh-CN" altLang="en-US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818D78-7C27-E8DB-D554-4C6CDDE38018}"/>
              </a:ext>
            </a:extLst>
          </p:cNvPr>
          <p:cNvSpPr txBox="1"/>
          <p:nvPr/>
        </p:nvSpPr>
        <p:spPr>
          <a:xfrm>
            <a:off x="1332293" y="2471202"/>
            <a:ext cx="1597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Metal</a:t>
            </a:r>
            <a:endParaRPr lang="zh-CN" altLang="en-U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EE1905-5AEE-CD40-0D5B-1148DF48F6B0}"/>
              </a:ext>
            </a:extLst>
          </p:cNvPr>
          <p:cNvSpPr txBox="1"/>
          <p:nvPr/>
        </p:nvSpPr>
        <p:spPr>
          <a:xfrm>
            <a:off x="8866095" y="2517369"/>
            <a:ext cx="3248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Metal or insulator depends on  the filling of energy levels</a:t>
            </a:r>
            <a:endParaRPr lang="zh-CN" altLang="en-US" sz="2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1C39E9B-4DB2-7D2F-F3C5-627B5BA9693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19" t="8236" r="4480" b="15292"/>
          <a:stretch/>
        </p:blipFill>
        <p:spPr>
          <a:xfrm>
            <a:off x="2283932" y="4810713"/>
            <a:ext cx="3214882" cy="195931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A94B9D9-59D5-0140-BCF2-CB1A4F236FA7}"/>
              </a:ext>
            </a:extLst>
          </p:cNvPr>
          <p:cNvSpPr txBox="1"/>
          <p:nvPr/>
        </p:nvSpPr>
        <p:spPr>
          <a:xfrm>
            <a:off x="2238417" y="4299722"/>
            <a:ext cx="1199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Pictorially:</a:t>
            </a:r>
            <a:endParaRPr lang="zh-CN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223658-61AE-1EC5-6648-1A7264A8269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9" t="8236" r="68901" b="15292"/>
          <a:stretch/>
        </p:blipFill>
        <p:spPr>
          <a:xfrm>
            <a:off x="6573025" y="4765012"/>
            <a:ext cx="1524173" cy="19593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79396B-97EE-64D3-6181-E22344262E4A}"/>
              </a:ext>
            </a:extLst>
          </p:cNvPr>
          <p:cNvSpPr txBox="1"/>
          <p:nvPr/>
        </p:nvSpPr>
        <p:spPr>
          <a:xfrm>
            <a:off x="1131279" y="5590314"/>
            <a:ext cx="795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Metal</a:t>
            </a:r>
            <a:endParaRPr lang="zh-CN" alt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B0BFB3-DABA-23D7-C3E8-B92CD2D58D13}"/>
              </a:ext>
            </a:extLst>
          </p:cNvPr>
          <p:cNvSpPr txBox="1"/>
          <p:nvPr/>
        </p:nvSpPr>
        <p:spPr>
          <a:xfrm>
            <a:off x="8067547" y="5544613"/>
            <a:ext cx="1597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Insulator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40582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">
      <a:majorFont>
        <a:latin typeface="Times New Roman"/>
        <a:ea typeface="Calibri Light"/>
        <a:cs typeface=""/>
      </a:majorFont>
      <a:minorFont>
        <a:latin typeface="Times New Roman"/>
        <a:ea typeface="Cambri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3445</TotalTime>
  <Words>1102</Words>
  <Application>Microsoft Office PowerPoint</Application>
  <PresentationFormat>Widescreen</PresentationFormat>
  <Paragraphs>203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Shishir Kumar Pandey</dc:creator>
  <cp:lastModifiedBy>Shishir Kumar Pandey</cp:lastModifiedBy>
  <cp:revision>399</cp:revision>
  <dcterms:created xsi:type="dcterms:W3CDTF">2023-05-06T12:40:37Z</dcterms:created>
  <dcterms:modified xsi:type="dcterms:W3CDTF">2023-05-09T09:12:38Z</dcterms:modified>
</cp:coreProperties>
</file>